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7313A"/>
                </a:solidFill>
                <a:latin typeface="Calibri"/>
              </a:defRPr>
            </a:pPr>
            <a:r>
              <a:rPr sz="1100" b="0" i="0" u="none" strike="noStrike">
                <a:solidFill>
                  <a:srgbClr val="17313A"/>
                </a:solidFill>
                <a:latin typeface="Calibri"/>
              </a:rPr>
              <a:t>Same questions, same code, different documents</a:t>
            </a:r>
          </a:p>
        </c:rich>
      </c:tx>
      <c:layout/>
      <c:overlay val="0"/>
    </c:title>
    <c:autoTitleDeleted val="0"/>
    <c:plotArea>
      <c:layout/>
      <c:barChart>
        <c:barDir val="col"/>
        <c:grouping val="clustered"/>
        <c:varyColors val="0"/>
        <c:ser>
          <c:idx val="0"/>
          <c:order val="0"/>
          <c:tx>
            <c:strRef>
              <c:f>Sheet1!$B$1</c:f>
              <c:strCache>
                <c:ptCount val="1"/>
                <c:pt idx="0">
                  <c:v>Corpus A — one PDF</c:v>
                </c:pt>
              </c:strCache>
            </c:strRef>
          </c:tx>
          <c:spPr>
            <a:solidFill>
              <a:srgbClr val="B5453C"/>
            </a:solidFill>
            <a:effectLst/>
          </c:spPr>
          <c:invertIfNegative val="0"/>
          <c:dLbls>
            <c:numFmt formatCode="0.00" sourceLinked="0"/>
            <c:txPr>
              <a:bodyPr/>
              <a:lstStyle/>
              <a:p>
                <a:pPr>
                  <a:defRPr b="0" i="0" strike="noStrike" sz="900" u="none">
                    <a:solidFill>
                      <a:srgbClr val="5D7178"/>
                    </a:solidFill>
                    <a:latin typeface="Arial"/>
                  </a:defRPr>
                </a:pPr>
              </a:p>
            </c:txPr>
            <c:showLegendKey val="0"/>
            <c:showVal val="1"/>
            <c:showCatName val="0"/>
            <c:showSerName val="0"/>
            <c:showPercent val="0"/>
            <c:showBubbleSize val="0"/>
            <c:showLeaderLines val="0"/>
          </c:dLbls>
          <c:cat>
            <c:multiLvlStrRef>
              <c:f>Sheet1!$A$2:$A$4</c:f>
              <c:multiLvlStrCache>
                <c:ptCount val="3"/>
                <c:lvl>
                  <c:pt idx="0">
                    <c:v>"Tell me a joke."</c:v>
                  </c:pt>
                  <c:pt idx="1">
                    <c:v>"Wifi password?"</c:v>
                  </c:pt>
                  <c:pt idx="2">
                    <c:v>"2022 World Cup?"</c:v>
                  </c:pt>
                </c:lvl>
              </c:multiLvlStrCache>
            </c:multiLvlStrRef>
          </c:cat>
          <c:val>
            <c:numRef>
              <c:f>Sheet1!$B$2:$B$4</c:f>
              <c:numCache>
                <c:formatCode>General</c:formatCode>
                <c:ptCount val="3"/>
                <c:pt idx="0">
                  <c:v>0.49</c:v>
                </c:pt>
                <c:pt idx="1">
                  <c:v>0.415</c:v>
                </c:pt>
                <c:pt idx="2">
                  <c:v>0.271</c:v>
                </c:pt>
              </c:numCache>
            </c:numRef>
          </c:val>
        </c:ser>
        <c:ser>
          <c:idx val="1"/>
          <c:order val="1"/>
          <c:tx>
            <c:strRef>
              <c:f>Sheet1!$C$1</c:f>
              <c:strCache>
                <c:ptCount val="1"/>
                <c:pt idx="0">
                  <c:v>Corpus B — four notes</c:v>
                </c:pt>
              </c:strCache>
            </c:strRef>
          </c:tx>
          <c:spPr>
            <a:solidFill>
              <a:srgbClr val="028090"/>
            </a:solidFill>
            <a:effectLst/>
          </c:spPr>
          <c:invertIfNegative val="0"/>
          <c:dLbls>
            <c:numFmt formatCode="0.00" sourceLinked="0"/>
            <c:txPr>
              <a:bodyPr/>
              <a:lstStyle/>
              <a:p>
                <a:pPr>
                  <a:defRPr b="0" i="0" strike="noStrike" sz="900" u="none">
                    <a:solidFill>
                      <a:srgbClr val="5D7178"/>
                    </a:solidFill>
                    <a:latin typeface="Arial"/>
                  </a:defRPr>
                </a:pPr>
              </a:p>
            </c:txPr>
            <c:showLegendKey val="0"/>
            <c:showVal val="1"/>
            <c:showCatName val="0"/>
            <c:showSerName val="0"/>
            <c:showPercent val="0"/>
            <c:showBubbleSize val="0"/>
            <c:showLeaderLines val="0"/>
          </c:dLbls>
          <c:cat>
            <c:multiLvlStrRef>
              <c:f>Sheet1!$A$2:$A$4</c:f>
              <c:multiLvlStrCache>
                <c:ptCount val="3"/>
                <c:lvl>
                  <c:pt idx="0">
                    <c:v>"Tell me a joke."</c:v>
                  </c:pt>
                  <c:pt idx="1">
                    <c:v>"Wifi password?"</c:v>
                  </c:pt>
                  <c:pt idx="2">
                    <c:v>"2022 World Cup?"</c:v>
                  </c:pt>
                </c:lvl>
              </c:multiLvlStrCache>
            </c:multiLvlStrRef>
          </c:cat>
          <c:val>
            <c:numRef>
              <c:f>Sheet1!$C$2:$C$4</c:f>
              <c:numCache>
                <c:formatCode>General</c:formatCode>
                <c:ptCount val="3"/>
                <c:pt idx="0">
                  <c:v>0.301</c:v>
                </c:pt>
                <c:pt idx="1">
                  <c:v>0.343</c:v>
                </c:pt>
                <c:pt idx="2">
                  <c:v>0.214</c:v>
                </c:pt>
              </c:numCache>
            </c:numRef>
          </c:val>
        </c:ser>
        <c:dLbls>
          <c:numFmt formatCode="0.00" sourceLinked="0"/>
          <c:txPr>
            <a:bodyPr/>
            <a:lstStyle/>
            <a:p>
              <a:pPr>
                <a:defRPr b="0" i="0" strike="noStrike" sz="900" u="none">
                  <a:solidFill>
                    <a:srgbClr val="5D7178"/>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D7178"/>
                </a:solidFill>
                <a:latin typeface="Arial"/>
              </a:defRPr>
            </a:pPr>
            <a:endParaRPr lang="en-US"/>
          </a:p>
        </c:txPr>
        <c:crossAx val="2094734552"/>
        <c:crosses val="autoZero"/>
        <c:auto val="1"/>
        <c:lblAlgn val="ctr"/>
        <c:noMultiLvlLbl val="1"/>
      </c:catAx>
      <c:valAx>
        <c:axId val="2094734552"/>
        <c:scaling>
          <c:orientation val="minMax"/>
          <c:max val="0.6"/>
          <c:min val="0"/>
        </c:scaling>
        <c:delete val="0"/>
        <c:axPos val="l"/>
        <c:majorGridlines>
          <c:spPr>
            <a:ln w="12700" cap="flat">
              <a:solidFill>
                <a:srgbClr val="E4EEEE"/>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D7178"/>
                </a:solidFill>
                <a:latin typeface="Arial"/>
              </a:defRPr>
            </a:pPr>
            <a:endParaRPr lang="en-US"/>
          </a:p>
        </c:txPr>
        <c:crossAx val="2094734554"/>
        <c:crosses val="autoZero"/>
        <c:crossBetween val="between"/>
        <c:majorUnit val="0.1"/>
      </c:valAx>
      <c:spPr>
        <a:noFill/>
        <a:ln>
          <a:noFill/>
        </a:ln>
        <a:effectLst/>
      </c:spPr>
    </c:plotArea>
    <c:legend>
      <c:legendPos val="b"/>
      <c:overlay val="0"/>
      <c:txPr>
        <a:bodyPr/>
        <a:lstStyle/>
        <a:p>
          <a:pPr>
            <a:defRPr sz="1000">
              <a:solidFill>
                <a:srgbClr val="5D7178"/>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[0:00-0:18] Hello, I am Adel. My project is a local RAG assistant built on Microsoft Foundry Local. RAG stands for Retrieval-Augmented Generation. The whole thing runs on my laptop with no internet connection and no cloud account. In five minutes I will show you the problem, the pipeline, what I measured, and what I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[0:18-0:52] Three problems. First, a general chatbot has never seen my course notes, so it cannot answer questions about them. Second, and worse, it does not say "I do not know" — it produces a fluent, confident, wrong answer. Third, the usual fix, pasting my notes into a cloud chatbot, means my material leaves my machine. My goal was an assistant that answers only from my documents, cites the source file, and refuses when the notes do not cover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[0:52-1:32] RAG solves this in five steps. I split each document into roughly 800-character passages. Each passage is turned into a vector of 1024 numbers that captures its meaning. Those go into a SQLite database. When a question arrives, I embed the question the same way and compare it against every stored passage. The best-matching passages are pasted into the prompt, and a local language model writes the answer from those passages only. The key point: the model never memorises my notes — it is handed them at question time. That is why it can cite a filename.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[1:32-2:05] Here is the actual stack. Documents live in a docs folder — text, markdown, PDF or Word. Embeddings come from qwen3-embedding-0.6b, producing 1024 numbers per passage. Storage is plain SQLite, a single file, no database server to install. Retrieval is cosine similarity plus a relevance gate I will come back to. The generator is phi-3.5-mini, a 3.8-billion-parameter model. All of it is orchestrated by Microsoft Foundry Local. No internet, no API key, no cloud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[2:05-2:40] Here it is working. On the left, a question my notes do answer. The retriever finds the passage, scores it 0.474, and the model replies "there are three phases" and cites the file it used. On the right, a question my notes say nothing about. The best-matching passage only scores 0.382, which is below my threshold, so the assistant refuses — and notice it never calls the model at all. That refusal takes a tenth of a second versus three seconds for a real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[2:40-3:15] Three changes mattered most. First, chunking. My first splitter produced three enormous chunks from one PDF and retrieval was useless. Splitting on sentence boundaries turned that into 41 usable passages, and this single change did more for answer quality than anything else. Second, model size: a half-billion-parameter model cheerfully answered "what is the capital of France" from its own memory, ignoring my instruction. phi-3.5-mini follows the grounding rule. Third, and this one surprised me: I stopped asking the model to write the source filename. It just marks passages by number and my code turns those numbers into filenames. That took citation accuracy from four out of eleven to eleven out of eleven. None of these three was about picking a better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[3:15-3:55] Here is where I was wrong. After the first evaluation I concluded that genuine and off-topic score ranges overlap, so no threshold can separate them. Then I ran the same sixteen questions against a different set of documents. "Tell me a joke" dropped from 0.49 to 0.30 and got caught by the gate. Same code, same threshold, same question — only the documents changed. On the second corpus the ranges separate cleanly with a gap of 0.13. So the honest conclusion is not "thresholds do not work". It is that a threshold is a property of your documents, not of your system, and hardcoding one is shipping a bug that appears the moment the documents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[3:55-4:35] Getting there took four experiments, each testing one thing. Widening retrieval from three passages to five fixed the multi-hop question that needed two documents at once. But look at the third row: citation accuracy collapsed from ten out of eleven to four out of eleven. The answers actually got better and shorter — the model just quietly stopped citing, because with five passages to attend to instead of three, the citation instruction lost out. My fix was not a better prompt. I numbered the passages, had the model mark them as bracket-one, bracket-three, and wrote code to map those numbers back to filenames. Eleven out of eleven, and the trade-off disappeared. Then I tried tightening the prompt to remove the last two over-citations — and the problem just moved to a different question. That is variance, so I stopped and documented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[4:35-5:00] Three takeaways. Preparing the data and tuning retrieval moved the numbers; swapping models did not. Anything the model does not have to do, it should not do — moving citation out of the prompt and into code fixed it completely. And two conclusions I was confident about after my first evaluation turned out to be wrong, which I only discovered by testing them against a second set of documents. Next I want to ship a calibration script, because that threshold is still a hardcoded number that only suits one corpus. The code, the full evaluation write-up and this deck are on GitHub at AdelUgur slash local-rag-foundry.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343A"/>
        </a:solidFill>
      </p:bgPr>
    </p:bg>
    <p:spTree>
      <p:nvGrpSpPr>
        <p:cNvPr id="1" name=""/>
        <p:cNvGrpSpPr/>
        <p:nvPr/>
      </p:nvGrpSpPr>
      <p:grpSpPr>
        <a:xfrm>
          <a:off x="0" y="0"/>
          <a:ext cx="0" cy="0"/>
          <a:chOff x="0" y="0"/>
          <a:chExt cx="0" cy="0"/>
        </a:xfrm>
      </p:grpSpPr>
      <p:sp>
        <p:nvSpPr>
          <p:cNvPr id="2" name="Text 0"/>
          <p:cNvSpPr/>
          <p:nvPr/>
        </p:nvSpPr>
        <p:spPr>
          <a:xfrm>
            <a:off x="640080" y="1325880"/>
            <a:ext cx="7863840" cy="7772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Local RAG Assistant</a:t>
            </a:r>
            <a:endParaRPr lang="en-US" sz="4400" dirty="0"/>
          </a:p>
        </p:txBody>
      </p:sp>
      <p:sp>
        <p:nvSpPr>
          <p:cNvPr id="3" name="Text 1"/>
          <p:cNvSpPr/>
          <p:nvPr/>
        </p:nvSpPr>
        <p:spPr>
          <a:xfrm>
            <a:off x="640080" y="2121408"/>
            <a:ext cx="7863840" cy="365760"/>
          </a:xfrm>
          <a:prstGeom prst="rect">
            <a:avLst/>
          </a:prstGeom>
          <a:noFill/>
          <a:ln/>
        </p:spPr>
        <p:txBody>
          <a:bodyPr wrap="square" lIns="0" tIns="0" rIns="0" bIns="0" rtlCol="0" anchor="ctr"/>
          <a:lstStyle/>
          <a:p>
            <a:pPr indent="0" marL="0">
              <a:buNone/>
            </a:pPr>
            <a:r>
              <a:rPr lang="en-US" sz="1700" i="1" dirty="0">
                <a:solidFill>
                  <a:srgbClr val="02C39A"/>
                </a:solidFill>
                <a:latin typeface="Calibri" pitchFamily="34" charset="0"/>
                <a:ea typeface="Calibri" pitchFamily="34" charset="-122"/>
                <a:cs typeface="Calibri" pitchFamily="34" charset="-120"/>
              </a:rPr>
              <a:t>Answering questions about my own notes — entirely offline</a:t>
            </a:r>
            <a:endParaRPr lang="en-US" sz="1700" dirty="0"/>
          </a:p>
        </p:txBody>
      </p:sp>
      <p:sp>
        <p:nvSpPr>
          <p:cNvPr id="4" name="Shape 2"/>
          <p:cNvSpPr/>
          <p:nvPr/>
        </p:nvSpPr>
        <p:spPr>
          <a:xfrm>
            <a:off x="640080" y="2880360"/>
            <a:ext cx="310896" cy="310896"/>
          </a:xfrm>
          <a:prstGeom prst="ellipse">
            <a:avLst/>
          </a:prstGeom>
          <a:solidFill>
            <a:srgbClr val="028090"/>
          </a:solidFill>
          <a:ln/>
        </p:spPr>
      </p:sp>
      <p:sp>
        <p:nvSpPr>
          <p:cNvPr id="5" name="Text 3"/>
          <p:cNvSpPr/>
          <p:nvPr/>
        </p:nvSpPr>
        <p:spPr>
          <a:xfrm>
            <a:off x="640080" y="2880360"/>
            <a:ext cx="310896" cy="310896"/>
          </a:xfrm>
          <a:prstGeom prst="rect">
            <a:avLst/>
          </a:prstGeom>
          <a:noFill/>
          <a:ln/>
        </p:spPr>
        <p:txBody>
          <a:bodyPr wrap="square" lIns="0" tIns="0" rIns="0" bIns="0" rtlCol="0" anchor="ctr"/>
          <a:lstStyle/>
          <a:p>
            <a:pPr algn="ctr" indent="0" marL="0">
              <a:buNone/>
            </a:pPr>
            <a:endParaRPr lang="en-US" sz="1600" dirty="0"/>
          </a:p>
        </p:txBody>
      </p:sp>
      <p:sp>
        <p:nvSpPr>
          <p:cNvPr id="6" name="Text 4"/>
          <p:cNvSpPr/>
          <p:nvPr/>
        </p:nvSpPr>
        <p:spPr>
          <a:xfrm>
            <a:off x="384048" y="3246120"/>
            <a:ext cx="822960" cy="256032"/>
          </a:xfrm>
          <a:prstGeom prst="rect">
            <a:avLst/>
          </a:prstGeom>
          <a:noFill/>
          <a:ln/>
        </p:spPr>
        <p:txBody>
          <a:bodyPr wrap="square" lIns="0" tIns="0" rIns="0" bIns="0" rtlCol="0" anchor="ctr"/>
          <a:lstStyle/>
          <a:p>
            <a:pPr algn="ctr" indent="0" marL="0">
              <a:buNone/>
            </a:pPr>
            <a:r>
              <a:rPr lang="en-US" sz="1000" dirty="0">
                <a:solidFill>
                  <a:srgbClr val="A9C6CA"/>
                </a:solidFill>
                <a:latin typeface="Calibri" pitchFamily="34" charset="0"/>
                <a:ea typeface="Calibri" pitchFamily="34" charset="-122"/>
                <a:cs typeface="Calibri" pitchFamily="34" charset="-120"/>
              </a:rPr>
              <a:t>Notes</a:t>
            </a:r>
            <a:endParaRPr lang="en-US" sz="1000" dirty="0"/>
          </a:p>
        </p:txBody>
      </p:sp>
      <p:sp>
        <p:nvSpPr>
          <p:cNvPr id="7" name="Shape 5"/>
          <p:cNvSpPr/>
          <p:nvPr/>
        </p:nvSpPr>
        <p:spPr>
          <a:xfrm>
            <a:off x="950976" y="3035808"/>
            <a:ext cx="896112" cy="0"/>
          </a:xfrm>
          <a:prstGeom prst="line">
            <a:avLst/>
          </a:prstGeom>
          <a:noFill/>
          <a:ln w="15875">
            <a:solidFill>
              <a:srgbClr val="2E5A61"/>
            </a:solidFill>
            <a:prstDash val="solid"/>
          </a:ln>
        </p:spPr>
      </p:sp>
      <p:sp>
        <p:nvSpPr>
          <p:cNvPr id="8" name="Shape 6"/>
          <p:cNvSpPr/>
          <p:nvPr/>
        </p:nvSpPr>
        <p:spPr>
          <a:xfrm>
            <a:off x="1847088" y="2880360"/>
            <a:ext cx="310896" cy="310896"/>
          </a:xfrm>
          <a:prstGeom prst="ellipse">
            <a:avLst/>
          </a:prstGeom>
          <a:solidFill>
            <a:srgbClr val="028090"/>
          </a:solidFill>
          <a:ln/>
        </p:spPr>
      </p:sp>
      <p:sp>
        <p:nvSpPr>
          <p:cNvPr id="9" name="Text 7"/>
          <p:cNvSpPr/>
          <p:nvPr/>
        </p:nvSpPr>
        <p:spPr>
          <a:xfrm>
            <a:off x="1847088" y="2880360"/>
            <a:ext cx="310896" cy="310896"/>
          </a:xfrm>
          <a:prstGeom prst="rect">
            <a:avLst/>
          </a:prstGeom>
          <a:noFill/>
          <a:ln/>
        </p:spPr>
        <p:txBody>
          <a:bodyPr wrap="square" lIns="0" tIns="0" rIns="0" bIns="0" rtlCol="0" anchor="ctr"/>
          <a:lstStyle/>
          <a:p>
            <a:pPr algn="ctr" indent="0" marL="0">
              <a:buNone/>
            </a:pPr>
            <a:endParaRPr lang="en-US" sz="1600" dirty="0"/>
          </a:p>
        </p:txBody>
      </p:sp>
      <p:sp>
        <p:nvSpPr>
          <p:cNvPr id="10" name="Text 8"/>
          <p:cNvSpPr/>
          <p:nvPr/>
        </p:nvSpPr>
        <p:spPr>
          <a:xfrm>
            <a:off x="1591056" y="3246120"/>
            <a:ext cx="822960" cy="256032"/>
          </a:xfrm>
          <a:prstGeom prst="rect">
            <a:avLst/>
          </a:prstGeom>
          <a:noFill/>
          <a:ln/>
        </p:spPr>
        <p:txBody>
          <a:bodyPr wrap="square" lIns="0" tIns="0" rIns="0" bIns="0" rtlCol="0" anchor="ctr"/>
          <a:lstStyle/>
          <a:p>
            <a:pPr algn="ctr" indent="0" marL="0">
              <a:buNone/>
            </a:pPr>
            <a:r>
              <a:rPr lang="en-US" sz="1000" dirty="0">
                <a:solidFill>
                  <a:srgbClr val="A9C6CA"/>
                </a:solidFill>
                <a:latin typeface="Calibri" pitchFamily="34" charset="0"/>
                <a:ea typeface="Calibri" pitchFamily="34" charset="-122"/>
                <a:cs typeface="Calibri" pitchFamily="34" charset="-120"/>
              </a:rPr>
              <a:t>Chunk</a:t>
            </a:r>
            <a:endParaRPr lang="en-US" sz="1000" dirty="0"/>
          </a:p>
        </p:txBody>
      </p:sp>
      <p:sp>
        <p:nvSpPr>
          <p:cNvPr id="11" name="Shape 9"/>
          <p:cNvSpPr/>
          <p:nvPr/>
        </p:nvSpPr>
        <p:spPr>
          <a:xfrm>
            <a:off x="2157984" y="3035808"/>
            <a:ext cx="896112" cy="0"/>
          </a:xfrm>
          <a:prstGeom prst="line">
            <a:avLst/>
          </a:prstGeom>
          <a:noFill/>
          <a:ln w="15875">
            <a:solidFill>
              <a:srgbClr val="2E5A61"/>
            </a:solidFill>
            <a:prstDash val="solid"/>
          </a:ln>
        </p:spPr>
      </p:sp>
      <p:sp>
        <p:nvSpPr>
          <p:cNvPr id="12" name="Shape 10"/>
          <p:cNvSpPr/>
          <p:nvPr/>
        </p:nvSpPr>
        <p:spPr>
          <a:xfrm>
            <a:off x="3054096" y="2880360"/>
            <a:ext cx="310896" cy="310896"/>
          </a:xfrm>
          <a:prstGeom prst="ellipse">
            <a:avLst/>
          </a:prstGeom>
          <a:solidFill>
            <a:srgbClr val="028090"/>
          </a:solidFill>
          <a:ln/>
        </p:spPr>
      </p:sp>
      <p:sp>
        <p:nvSpPr>
          <p:cNvPr id="13" name="Text 11"/>
          <p:cNvSpPr/>
          <p:nvPr/>
        </p:nvSpPr>
        <p:spPr>
          <a:xfrm>
            <a:off x="3054096" y="2880360"/>
            <a:ext cx="310896" cy="310896"/>
          </a:xfrm>
          <a:prstGeom prst="rect">
            <a:avLst/>
          </a:prstGeom>
          <a:noFill/>
          <a:ln/>
        </p:spPr>
        <p:txBody>
          <a:bodyPr wrap="square" lIns="0" tIns="0" rIns="0" bIns="0" rtlCol="0" anchor="ctr"/>
          <a:lstStyle/>
          <a:p>
            <a:pPr algn="ctr" indent="0" marL="0">
              <a:buNone/>
            </a:pPr>
            <a:endParaRPr lang="en-US" sz="1600" dirty="0"/>
          </a:p>
        </p:txBody>
      </p:sp>
      <p:sp>
        <p:nvSpPr>
          <p:cNvPr id="14" name="Text 12"/>
          <p:cNvSpPr/>
          <p:nvPr/>
        </p:nvSpPr>
        <p:spPr>
          <a:xfrm>
            <a:off x="2798064" y="3246120"/>
            <a:ext cx="822960" cy="256032"/>
          </a:xfrm>
          <a:prstGeom prst="rect">
            <a:avLst/>
          </a:prstGeom>
          <a:noFill/>
          <a:ln/>
        </p:spPr>
        <p:txBody>
          <a:bodyPr wrap="square" lIns="0" tIns="0" rIns="0" bIns="0" rtlCol="0" anchor="ctr"/>
          <a:lstStyle/>
          <a:p>
            <a:pPr algn="ctr" indent="0" marL="0">
              <a:buNone/>
            </a:pPr>
            <a:r>
              <a:rPr lang="en-US" sz="1000" dirty="0">
                <a:solidFill>
                  <a:srgbClr val="A9C6CA"/>
                </a:solidFill>
                <a:latin typeface="Calibri" pitchFamily="34" charset="0"/>
                <a:ea typeface="Calibri" pitchFamily="34" charset="-122"/>
                <a:cs typeface="Calibri" pitchFamily="34" charset="-120"/>
              </a:rPr>
              <a:t>Embed</a:t>
            </a:r>
            <a:endParaRPr lang="en-US" sz="1000" dirty="0"/>
          </a:p>
        </p:txBody>
      </p:sp>
      <p:sp>
        <p:nvSpPr>
          <p:cNvPr id="15" name="Shape 13"/>
          <p:cNvSpPr/>
          <p:nvPr/>
        </p:nvSpPr>
        <p:spPr>
          <a:xfrm>
            <a:off x="3364992" y="3035808"/>
            <a:ext cx="896112" cy="0"/>
          </a:xfrm>
          <a:prstGeom prst="line">
            <a:avLst/>
          </a:prstGeom>
          <a:noFill/>
          <a:ln w="15875">
            <a:solidFill>
              <a:srgbClr val="2E5A61"/>
            </a:solidFill>
            <a:prstDash val="solid"/>
          </a:ln>
        </p:spPr>
      </p:sp>
      <p:sp>
        <p:nvSpPr>
          <p:cNvPr id="16" name="Shape 14"/>
          <p:cNvSpPr/>
          <p:nvPr/>
        </p:nvSpPr>
        <p:spPr>
          <a:xfrm>
            <a:off x="4261104" y="2880360"/>
            <a:ext cx="310896" cy="310896"/>
          </a:xfrm>
          <a:prstGeom prst="ellipse">
            <a:avLst/>
          </a:prstGeom>
          <a:solidFill>
            <a:srgbClr val="028090"/>
          </a:solidFill>
          <a:ln/>
        </p:spPr>
      </p:sp>
      <p:sp>
        <p:nvSpPr>
          <p:cNvPr id="17" name="Text 15"/>
          <p:cNvSpPr/>
          <p:nvPr/>
        </p:nvSpPr>
        <p:spPr>
          <a:xfrm>
            <a:off x="4261104" y="2880360"/>
            <a:ext cx="310896" cy="310896"/>
          </a:xfrm>
          <a:prstGeom prst="rect">
            <a:avLst/>
          </a:prstGeom>
          <a:noFill/>
          <a:ln/>
        </p:spPr>
        <p:txBody>
          <a:bodyPr wrap="square" lIns="0" tIns="0" rIns="0" bIns="0" rtlCol="0" anchor="ctr"/>
          <a:lstStyle/>
          <a:p>
            <a:pPr algn="ctr" indent="0" marL="0">
              <a:buNone/>
            </a:pPr>
            <a:endParaRPr lang="en-US" sz="1600" dirty="0"/>
          </a:p>
        </p:txBody>
      </p:sp>
      <p:sp>
        <p:nvSpPr>
          <p:cNvPr id="18" name="Text 16"/>
          <p:cNvSpPr/>
          <p:nvPr/>
        </p:nvSpPr>
        <p:spPr>
          <a:xfrm>
            <a:off x="4005072" y="3246120"/>
            <a:ext cx="822960" cy="256032"/>
          </a:xfrm>
          <a:prstGeom prst="rect">
            <a:avLst/>
          </a:prstGeom>
          <a:noFill/>
          <a:ln/>
        </p:spPr>
        <p:txBody>
          <a:bodyPr wrap="square" lIns="0" tIns="0" rIns="0" bIns="0" rtlCol="0" anchor="ctr"/>
          <a:lstStyle/>
          <a:p>
            <a:pPr algn="ctr" indent="0" marL="0">
              <a:buNone/>
            </a:pPr>
            <a:r>
              <a:rPr lang="en-US" sz="1000" dirty="0">
                <a:solidFill>
                  <a:srgbClr val="A9C6CA"/>
                </a:solidFill>
                <a:latin typeface="Calibri" pitchFamily="34" charset="0"/>
                <a:ea typeface="Calibri" pitchFamily="34" charset="-122"/>
                <a:cs typeface="Calibri" pitchFamily="34" charset="-120"/>
              </a:rPr>
              <a:t>Retrieve</a:t>
            </a:r>
            <a:endParaRPr lang="en-US" sz="1000" dirty="0"/>
          </a:p>
        </p:txBody>
      </p:sp>
      <p:sp>
        <p:nvSpPr>
          <p:cNvPr id="19" name="Shape 17"/>
          <p:cNvSpPr/>
          <p:nvPr/>
        </p:nvSpPr>
        <p:spPr>
          <a:xfrm>
            <a:off x="4572000" y="3035808"/>
            <a:ext cx="896112" cy="0"/>
          </a:xfrm>
          <a:prstGeom prst="line">
            <a:avLst/>
          </a:prstGeom>
          <a:noFill/>
          <a:ln w="15875">
            <a:solidFill>
              <a:srgbClr val="2E5A61"/>
            </a:solidFill>
            <a:prstDash val="solid"/>
          </a:ln>
        </p:spPr>
      </p:sp>
      <p:sp>
        <p:nvSpPr>
          <p:cNvPr id="20" name="Shape 18"/>
          <p:cNvSpPr/>
          <p:nvPr/>
        </p:nvSpPr>
        <p:spPr>
          <a:xfrm>
            <a:off x="5468112" y="2880360"/>
            <a:ext cx="310896" cy="310896"/>
          </a:xfrm>
          <a:prstGeom prst="ellipse">
            <a:avLst/>
          </a:prstGeom>
          <a:solidFill>
            <a:srgbClr val="02C39A"/>
          </a:solidFill>
          <a:ln/>
        </p:spPr>
      </p:sp>
      <p:sp>
        <p:nvSpPr>
          <p:cNvPr id="21" name="Text 19"/>
          <p:cNvSpPr/>
          <p:nvPr/>
        </p:nvSpPr>
        <p:spPr>
          <a:xfrm>
            <a:off x="5468112" y="2880360"/>
            <a:ext cx="310896" cy="310896"/>
          </a:xfrm>
          <a:prstGeom prst="rect">
            <a:avLst/>
          </a:prstGeom>
          <a:noFill/>
          <a:ln/>
        </p:spPr>
        <p:txBody>
          <a:bodyPr wrap="square" lIns="0" tIns="0" rIns="0" bIns="0" rtlCol="0" anchor="ctr"/>
          <a:lstStyle/>
          <a:p>
            <a:pPr algn="ctr" indent="0" marL="0">
              <a:buNone/>
            </a:pPr>
            <a:endParaRPr lang="en-US" sz="1600" dirty="0"/>
          </a:p>
        </p:txBody>
      </p:sp>
      <p:sp>
        <p:nvSpPr>
          <p:cNvPr id="22" name="Text 20"/>
          <p:cNvSpPr/>
          <p:nvPr/>
        </p:nvSpPr>
        <p:spPr>
          <a:xfrm>
            <a:off x="5212080" y="3246120"/>
            <a:ext cx="822960" cy="256032"/>
          </a:xfrm>
          <a:prstGeom prst="rect">
            <a:avLst/>
          </a:prstGeom>
          <a:noFill/>
          <a:ln/>
        </p:spPr>
        <p:txBody>
          <a:bodyPr wrap="square" lIns="0" tIns="0" rIns="0" bIns="0" rtlCol="0" anchor="ctr"/>
          <a:lstStyle/>
          <a:p>
            <a:pPr algn="ctr" indent="0" marL="0">
              <a:buNone/>
            </a:pPr>
            <a:r>
              <a:rPr lang="en-US" sz="1000" dirty="0">
                <a:solidFill>
                  <a:srgbClr val="A9C6CA"/>
                </a:solidFill>
                <a:latin typeface="Calibri" pitchFamily="34" charset="0"/>
                <a:ea typeface="Calibri" pitchFamily="34" charset="-122"/>
                <a:cs typeface="Calibri" pitchFamily="34" charset="-120"/>
              </a:rPr>
              <a:t>Answer</a:t>
            </a:r>
            <a:endParaRPr lang="en-US" sz="1000" dirty="0"/>
          </a:p>
        </p:txBody>
      </p:sp>
      <p:sp>
        <p:nvSpPr>
          <p:cNvPr id="23" name="Text 21"/>
          <p:cNvSpPr/>
          <p:nvPr/>
        </p:nvSpPr>
        <p:spPr>
          <a:xfrm>
            <a:off x="640080" y="4160520"/>
            <a:ext cx="7863840" cy="274320"/>
          </a:xfrm>
          <a:prstGeom prst="rect">
            <a:avLst/>
          </a:prstGeom>
          <a:noFill/>
          <a:ln/>
        </p:spPr>
        <p:txBody>
          <a:bodyPr wrap="square" lIns="0" tIns="0" rIns="0" bIns="0" rtlCol="0" anchor="ctr"/>
          <a:lstStyle/>
          <a:p>
            <a:pPr indent="0" marL="0">
              <a:buNone/>
            </a:pPr>
            <a:r>
              <a:rPr lang="en-US" sz="1200" dirty="0">
                <a:solidFill>
                  <a:srgbClr val="8FB2B7"/>
                </a:solidFill>
                <a:latin typeface="Calibri" pitchFamily="34" charset="0"/>
                <a:ea typeface="Calibri" pitchFamily="34" charset="-122"/>
                <a:cs typeface="Calibri" pitchFamily="34" charset="-120"/>
              </a:rPr>
              <a:t>Adel  ·  Microsoft Summer School 5  ·  Foundry Local track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109728"/>
            <a:ext cx="8138160" cy="256032"/>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502920" y="347472"/>
            <a:ext cx="8138160" cy="640080"/>
          </a:xfrm>
          <a:prstGeom prst="rect">
            <a:avLst/>
          </a:prstGeom>
          <a:noFill/>
          <a:ln/>
        </p:spPr>
        <p:txBody>
          <a:bodyPr wrap="square" lIns="0" tIns="0" rIns="0" bIns="0" rtlCol="0" anchor="ctr"/>
          <a:lstStyle/>
          <a:p>
            <a:pPr indent="0" marL="0">
              <a:buNone/>
            </a:pPr>
            <a:r>
              <a:rPr lang="en-US" sz="3200" b="1" dirty="0">
                <a:solidFill>
                  <a:srgbClr val="17313A"/>
                </a:solidFill>
                <a:latin typeface="Cambria" pitchFamily="34" charset="0"/>
                <a:ea typeface="Cambria" pitchFamily="34" charset="-122"/>
                <a:cs typeface="Cambria" pitchFamily="34" charset="-120"/>
              </a:rPr>
              <a:t>A general chatbot does not know my notes</a:t>
            </a:r>
            <a:endParaRPr lang="en-US" sz="3200" dirty="0"/>
          </a:p>
        </p:txBody>
      </p:sp>
      <p:sp>
        <p:nvSpPr>
          <p:cNvPr id="4" name="Shape 2"/>
          <p:cNvSpPr/>
          <p:nvPr/>
        </p:nvSpPr>
        <p:spPr>
          <a:xfrm>
            <a:off x="548640" y="1408176"/>
            <a:ext cx="475488" cy="475488"/>
          </a:xfrm>
          <a:prstGeom prst="ellipse">
            <a:avLst/>
          </a:prstGeom>
          <a:solidFill>
            <a:srgbClr val="028090"/>
          </a:solidFill>
          <a:ln/>
        </p:spPr>
      </p:sp>
      <p:sp>
        <p:nvSpPr>
          <p:cNvPr id="5" name="Text 3"/>
          <p:cNvSpPr/>
          <p:nvPr/>
        </p:nvSpPr>
        <p:spPr>
          <a:xfrm>
            <a:off x="548640" y="1408176"/>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207008" y="1344168"/>
            <a:ext cx="7315200" cy="292608"/>
          </a:xfrm>
          <a:prstGeom prst="rect">
            <a:avLst/>
          </a:prstGeom>
          <a:noFill/>
          <a:ln/>
        </p:spPr>
        <p:txBody>
          <a:bodyPr wrap="square" lIns="0" tIns="0" rIns="0" bIns="0" rtlCol="0" anchor="ctr"/>
          <a:lstStyle/>
          <a:p>
            <a:pPr indent="0" marL="0">
              <a:buNone/>
            </a:pPr>
            <a:r>
              <a:rPr lang="en-US" sz="1700" b="1" dirty="0">
                <a:solidFill>
                  <a:srgbClr val="17313A"/>
                </a:solidFill>
                <a:latin typeface="Calibri" pitchFamily="34" charset="0"/>
                <a:ea typeface="Calibri" pitchFamily="34" charset="-122"/>
                <a:cs typeface="Calibri" pitchFamily="34" charset="-120"/>
              </a:rPr>
              <a:t>It has never seen them</a:t>
            </a:r>
            <a:endParaRPr lang="en-US" sz="1700" dirty="0"/>
          </a:p>
        </p:txBody>
      </p:sp>
      <p:sp>
        <p:nvSpPr>
          <p:cNvPr id="7" name="Text 5"/>
          <p:cNvSpPr/>
          <p:nvPr/>
        </p:nvSpPr>
        <p:spPr>
          <a:xfrm>
            <a:off x="1207008" y="1682496"/>
            <a:ext cx="7223760" cy="384048"/>
          </a:xfrm>
          <a:prstGeom prst="rect">
            <a:avLst/>
          </a:prstGeom>
          <a:noFill/>
          <a:ln/>
        </p:spPr>
        <p:txBody>
          <a:bodyPr wrap="square" lIns="0" tIns="0" rIns="0" bIns="0" rtlCol="0" anchor="ctr"/>
          <a:lstStyle/>
          <a:p>
            <a:pPr indent="0" marL="0">
              <a:buNone/>
            </a:pPr>
            <a:r>
              <a:rPr lang="en-US" sz="1300" dirty="0">
                <a:solidFill>
                  <a:srgbClr val="5D7178"/>
                </a:solidFill>
                <a:latin typeface="Calibri" pitchFamily="34" charset="0"/>
                <a:ea typeface="Calibri" pitchFamily="34" charset="-122"/>
                <a:cs typeface="Calibri" pitchFamily="34" charset="-120"/>
              </a:rPr>
              <a:t>Ask about my own course material and it simply has no source to draw on.</a:t>
            </a:r>
            <a:endParaRPr lang="en-US" sz="1300" dirty="0"/>
          </a:p>
        </p:txBody>
      </p:sp>
      <p:sp>
        <p:nvSpPr>
          <p:cNvPr id="8" name="Shape 6"/>
          <p:cNvSpPr/>
          <p:nvPr/>
        </p:nvSpPr>
        <p:spPr>
          <a:xfrm>
            <a:off x="548640" y="2468880"/>
            <a:ext cx="475488" cy="475488"/>
          </a:xfrm>
          <a:prstGeom prst="ellipse">
            <a:avLst/>
          </a:prstGeom>
          <a:solidFill>
            <a:srgbClr val="028090"/>
          </a:solidFill>
          <a:ln/>
        </p:spPr>
      </p:sp>
      <p:sp>
        <p:nvSpPr>
          <p:cNvPr id="9" name="Text 7"/>
          <p:cNvSpPr/>
          <p:nvPr/>
        </p:nvSpPr>
        <p:spPr>
          <a:xfrm>
            <a:off x="548640" y="246888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p:nvPr/>
        </p:nvSpPr>
        <p:spPr>
          <a:xfrm>
            <a:off x="1207008" y="2404872"/>
            <a:ext cx="7315200" cy="292608"/>
          </a:xfrm>
          <a:prstGeom prst="rect">
            <a:avLst/>
          </a:prstGeom>
          <a:noFill/>
          <a:ln/>
        </p:spPr>
        <p:txBody>
          <a:bodyPr wrap="square" lIns="0" tIns="0" rIns="0" bIns="0" rtlCol="0" anchor="ctr"/>
          <a:lstStyle/>
          <a:p>
            <a:pPr indent="0" marL="0">
              <a:buNone/>
            </a:pPr>
            <a:r>
              <a:rPr lang="en-US" sz="1700" b="1" dirty="0">
                <a:solidFill>
                  <a:srgbClr val="17313A"/>
                </a:solidFill>
                <a:latin typeface="Calibri" pitchFamily="34" charset="0"/>
                <a:ea typeface="Calibri" pitchFamily="34" charset="-122"/>
                <a:cs typeface="Calibri" pitchFamily="34" charset="-120"/>
              </a:rPr>
              <a:t>So it invents an answer</a:t>
            </a:r>
            <a:endParaRPr lang="en-US" sz="1700" dirty="0"/>
          </a:p>
        </p:txBody>
      </p:sp>
      <p:sp>
        <p:nvSpPr>
          <p:cNvPr id="11" name="Text 9"/>
          <p:cNvSpPr/>
          <p:nvPr/>
        </p:nvSpPr>
        <p:spPr>
          <a:xfrm>
            <a:off x="1207008" y="2743200"/>
            <a:ext cx="7223760" cy="384048"/>
          </a:xfrm>
          <a:prstGeom prst="rect">
            <a:avLst/>
          </a:prstGeom>
          <a:noFill/>
          <a:ln/>
        </p:spPr>
        <p:txBody>
          <a:bodyPr wrap="square" lIns="0" tIns="0" rIns="0" bIns="0" rtlCol="0" anchor="ctr"/>
          <a:lstStyle/>
          <a:p>
            <a:pPr indent="0" marL="0">
              <a:buNone/>
            </a:pPr>
            <a:r>
              <a:rPr lang="en-US" sz="1300" dirty="0">
                <a:solidFill>
                  <a:srgbClr val="5D7178"/>
                </a:solidFill>
                <a:latin typeface="Calibri" pitchFamily="34" charset="0"/>
                <a:ea typeface="Calibri" pitchFamily="34" charset="-122"/>
                <a:cs typeface="Calibri" pitchFamily="34" charset="-120"/>
              </a:rPr>
              <a:t>A confident, fluent, wrong answer is worse than no answer at all.</a:t>
            </a:r>
            <a:endParaRPr lang="en-US" sz="1300" dirty="0"/>
          </a:p>
        </p:txBody>
      </p:sp>
      <p:sp>
        <p:nvSpPr>
          <p:cNvPr id="12" name="Shape 10"/>
          <p:cNvSpPr/>
          <p:nvPr/>
        </p:nvSpPr>
        <p:spPr>
          <a:xfrm>
            <a:off x="548640" y="3529584"/>
            <a:ext cx="475488" cy="475488"/>
          </a:xfrm>
          <a:prstGeom prst="ellipse">
            <a:avLst/>
          </a:prstGeom>
          <a:solidFill>
            <a:srgbClr val="028090"/>
          </a:solidFill>
          <a:ln/>
        </p:spPr>
      </p:sp>
      <p:sp>
        <p:nvSpPr>
          <p:cNvPr id="13" name="Text 11"/>
          <p:cNvSpPr/>
          <p:nvPr/>
        </p:nvSpPr>
        <p:spPr>
          <a:xfrm>
            <a:off x="548640" y="352958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p:nvPr/>
        </p:nvSpPr>
        <p:spPr>
          <a:xfrm>
            <a:off x="1207008" y="3465576"/>
            <a:ext cx="7315200" cy="292608"/>
          </a:xfrm>
          <a:prstGeom prst="rect">
            <a:avLst/>
          </a:prstGeom>
          <a:noFill/>
          <a:ln/>
        </p:spPr>
        <p:txBody>
          <a:bodyPr wrap="square" lIns="0" tIns="0" rIns="0" bIns="0" rtlCol="0" anchor="ctr"/>
          <a:lstStyle/>
          <a:p>
            <a:pPr indent="0" marL="0">
              <a:buNone/>
            </a:pPr>
            <a:r>
              <a:rPr lang="en-US" sz="1700" b="1" dirty="0">
                <a:solidFill>
                  <a:srgbClr val="17313A"/>
                </a:solidFill>
                <a:latin typeface="Calibri" pitchFamily="34" charset="0"/>
                <a:ea typeface="Calibri" pitchFamily="34" charset="-122"/>
                <a:cs typeface="Calibri" pitchFamily="34" charset="-120"/>
              </a:rPr>
              <a:t>And my notes leave my machine</a:t>
            </a:r>
            <a:endParaRPr lang="en-US" sz="1700" dirty="0"/>
          </a:p>
        </p:txBody>
      </p:sp>
      <p:sp>
        <p:nvSpPr>
          <p:cNvPr id="15" name="Text 13"/>
          <p:cNvSpPr/>
          <p:nvPr/>
        </p:nvSpPr>
        <p:spPr>
          <a:xfrm>
            <a:off x="1207008" y="3803904"/>
            <a:ext cx="7223760" cy="384048"/>
          </a:xfrm>
          <a:prstGeom prst="rect">
            <a:avLst/>
          </a:prstGeom>
          <a:noFill/>
          <a:ln/>
        </p:spPr>
        <p:txBody>
          <a:bodyPr wrap="square" lIns="0" tIns="0" rIns="0" bIns="0" rtlCol="0" anchor="ctr"/>
          <a:lstStyle/>
          <a:p>
            <a:pPr indent="0" marL="0">
              <a:buNone/>
            </a:pPr>
            <a:r>
              <a:rPr lang="en-US" sz="1300" dirty="0">
                <a:solidFill>
                  <a:srgbClr val="5D7178"/>
                </a:solidFill>
                <a:latin typeface="Calibri" pitchFamily="34" charset="0"/>
                <a:ea typeface="Calibri" pitchFamily="34" charset="-122"/>
                <a:cs typeface="Calibri" pitchFamily="34" charset="-120"/>
              </a:rPr>
              <a:t>Pasting personal study material into a cloud service is a privacy cost.</a:t>
            </a:r>
            <a:endParaRPr lang="en-US" sz="1300" dirty="0"/>
          </a:p>
        </p:txBody>
      </p:sp>
      <p:sp>
        <p:nvSpPr>
          <p:cNvPr id="16" name="Shape 14"/>
          <p:cNvSpPr/>
          <p:nvPr/>
        </p:nvSpPr>
        <p:spPr>
          <a:xfrm>
            <a:off x="548640" y="4443984"/>
            <a:ext cx="8046720" cy="457200"/>
          </a:xfrm>
          <a:prstGeom prst="roundRect">
            <a:avLst>
              <a:gd name="adj" fmla="val 12000"/>
            </a:avLst>
          </a:prstGeom>
          <a:solidFill>
            <a:srgbClr val="E9F5F4"/>
          </a:solidFill>
          <a:ln/>
        </p:spPr>
      </p:sp>
      <p:sp>
        <p:nvSpPr>
          <p:cNvPr id="17" name="Text 15"/>
          <p:cNvSpPr/>
          <p:nvPr/>
        </p:nvSpPr>
        <p:spPr>
          <a:xfrm>
            <a:off x="777240" y="4443984"/>
            <a:ext cx="7680960" cy="457200"/>
          </a:xfrm>
          <a:prstGeom prst="rect">
            <a:avLst/>
          </a:prstGeom>
          <a:noFill/>
          <a:ln/>
        </p:spPr>
        <p:txBody>
          <a:bodyPr wrap="square" lIns="0" tIns="0" rIns="0" bIns="0" rtlCol="0" anchor="ctr"/>
          <a:lstStyle/>
          <a:p>
            <a:pPr indent="0" marL="0">
              <a:buNone/>
            </a:pPr>
            <a:r>
              <a:rPr lang="en-US" sz="1250" i="1" dirty="0">
                <a:solidFill>
                  <a:srgbClr val="028090"/>
                </a:solidFill>
                <a:latin typeface="Calibri" pitchFamily="34" charset="0"/>
                <a:ea typeface="Calibri" pitchFamily="34" charset="-122"/>
                <a:cs typeface="Calibri" pitchFamily="34" charset="-120"/>
              </a:rPr>
              <a:t>Goal: answers that come only from my documents, that cite the file they came from, and that admit when the notes do not cover the question.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109728"/>
            <a:ext cx="8138160" cy="256032"/>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THE APPROACH</a:t>
            </a:r>
            <a:endParaRPr lang="en-US" sz="1100" dirty="0"/>
          </a:p>
        </p:txBody>
      </p:sp>
      <p:sp>
        <p:nvSpPr>
          <p:cNvPr id="3" name="Text 1"/>
          <p:cNvSpPr/>
          <p:nvPr/>
        </p:nvSpPr>
        <p:spPr>
          <a:xfrm>
            <a:off x="502920" y="347472"/>
            <a:ext cx="8138160" cy="640080"/>
          </a:xfrm>
          <a:prstGeom prst="rect">
            <a:avLst/>
          </a:prstGeom>
          <a:noFill/>
          <a:ln/>
        </p:spPr>
        <p:txBody>
          <a:bodyPr wrap="square" lIns="0" tIns="0" rIns="0" bIns="0" rtlCol="0" anchor="ctr"/>
          <a:lstStyle/>
          <a:p>
            <a:pPr indent="0" marL="0">
              <a:buNone/>
            </a:pPr>
            <a:r>
              <a:rPr lang="en-US" sz="3200" b="1" dirty="0">
                <a:solidFill>
                  <a:srgbClr val="17313A"/>
                </a:solidFill>
                <a:latin typeface="Cambria" pitchFamily="34" charset="0"/>
                <a:ea typeface="Cambria" pitchFamily="34" charset="-122"/>
                <a:cs typeface="Cambria" pitchFamily="34" charset="-120"/>
              </a:rPr>
              <a:t>Retrieval-Augmented Generation</a:t>
            </a:r>
            <a:endParaRPr lang="en-US" sz="3200" dirty="0"/>
          </a:p>
        </p:txBody>
      </p:sp>
      <p:sp>
        <p:nvSpPr>
          <p:cNvPr id="4" name="Shape 2"/>
          <p:cNvSpPr/>
          <p:nvPr/>
        </p:nvSpPr>
        <p:spPr>
          <a:xfrm>
            <a:off x="457200" y="1371600"/>
            <a:ext cx="1481328" cy="2148840"/>
          </a:xfrm>
          <a:prstGeom prst="roundRect">
            <a:avLst>
              <a:gd name="adj" fmla="val 3704"/>
            </a:avLst>
          </a:prstGeom>
          <a:solidFill>
            <a:srgbClr val="E9F5F4"/>
          </a:solidFill>
          <a:ln/>
        </p:spPr>
      </p:sp>
      <p:sp>
        <p:nvSpPr>
          <p:cNvPr id="5" name="Shape 3"/>
          <p:cNvSpPr/>
          <p:nvPr/>
        </p:nvSpPr>
        <p:spPr>
          <a:xfrm>
            <a:off x="960120" y="1572768"/>
            <a:ext cx="475488" cy="475488"/>
          </a:xfrm>
          <a:prstGeom prst="ellipse">
            <a:avLst/>
          </a:prstGeom>
          <a:solidFill>
            <a:srgbClr val="028090"/>
          </a:solidFill>
          <a:ln/>
        </p:spPr>
      </p:sp>
      <p:sp>
        <p:nvSpPr>
          <p:cNvPr id="6" name="Text 4"/>
          <p:cNvSpPr/>
          <p:nvPr/>
        </p:nvSpPr>
        <p:spPr>
          <a:xfrm>
            <a:off x="960120" y="157276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530352" y="2157984"/>
            <a:ext cx="1335024" cy="274320"/>
          </a:xfrm>
          <a:prstGeom prst="rect">
            <a:avLst/>
          </a:prstGeom>
          <a:noFill/>
          <a:ln/>
        </p:spPr>
        <p:txBody>
          <a:bodyPr wrap="square" lIns="0" tIns="0" rIns="0" bIns="0" rtlCol="0" anchor="ctr"/>
          <a:lstStyle/>
          <a:p>
            <a:pPr algn="ctr" indent="0" marL="0">
              <a:buNone/>
            </a:pPr>
            <a:r>
              <a:rPr lang="en-US" sz="1500" b="1" dirty="0">
                <a:solidFill>
                  <a:srgbClr val="17313A"/>
                </a:solidFill>
                <a:latin typeface="Calibri" pitchFamily="34" charset="0"/>
                <a:ea typeface="Calibri" pitchFamily="34" charset="-122"/>
                <a:cs typeface="Calibri" pitchFamily="34" charset="-120"/>
              </a:rPr>
              <a:t>Chunk</a:t>
            </a:r>
            <a:endParaRPr lang="en-US" sz="1500" dirty="0"/>
          </a:p>
        </p:txBody>
      </p:sp>
      <p:sp>
        <p:nvSpPr>
          <p:cNvPr id="8" name="Text 6"/>
          <p:cNvSpPr/>
          <p:nvPr/>
        </p:nvSpPr>
        <p:spPr>
          <a:xfrm>
            <a:off x="576072" y="2450592"/>
            <a:ext cx="1243584" cy="960120"/>
          </a:xfrm>
          <a:prstGeom prst="rect">
            <a:avLst/>
          </a:prstGeom>
          <a:noFill/>
          <a:ln/>
        </p:spPr>
        <p:txBody>
          <a:bodyPr wrap="square" lIns="0" tIns="0" rIns="0" bIns="0" rtlCol="0" anchor="ctr"/>
          <a:lstStyle/>
          <a:p>
            <a:pPr algn="ctr" indent="0" marL="0">
              <a:buNone/>
            </a:pPr>
            <a:r>
              <a:rPr lang="en-US" sz="1050" dirty="0">
                <a:solidFill>
                  <a:srgbClr val="5D7178"/>
                </a:solidFill>
                <a:latin typeface="Calibri" pitchFamily="34" charset="0"/>
                <a:ea typeface="Calibri" pitchFamily="34" charset="-122"/>
                <a:cs typeface="Calibri" pitchFamily="34" charset="-120"/>
              </a:rPr>
              <a:t>Split documents into ~800-character passages</a:t>
            </a:r>
            <a:endParaRPr lang="en-US" sz="1050" dirty="0"/>
          </a:p>
        </p:txBody>
      </p:sp>
      <p:sp>
        <p:nvSpPr>
          <p:cNvPr id="9" name="Shape 7"/>
          <p:cNvSpPr/>
          <p:nvPr/>
        </p:nvSpPr>
        <p:spPr>
          <a:xfrm>
            <a:off x="1938528" y="2441448"/>
            <a:ext cx="192024" cy="0"/>
          </a:xfrm>
          <a:prstGeom prst="line">
            <a:avLst/>
          </a:prstGeom>
          <a:noFill/>
          <a:ln w="19050">
            <a:solidFill>
              <a:srgbClr val="00A896"/>
            </a:solidFill>
            <a:prstDash val="solid"/>
            <a:tailEnd type="triangle"/>
          </a:ln>
        </p:spPr>
      </p:sp>
      <p:sp>
        <p:nvSpPr>
          <p:cNvPr id="10" name="Shape 8"/>
          <p:cNvSpPr/>
          <p:nvPr/>
        </p:nvSpPr>
        <p:spPr>
          <a:xfrm>
            <a:off x="2130552" y="1371600"/>
            <a:ext cx="1481328" cy="2148840"/>
          </a:xfrm>
          <a:prstGeom prst="roundRect">
            <a:avLst>
              <a:gd name="adj" fmla="val 3704"/>
            </a:avLst>
          </a:prstGeom>
          <a:solidFill>
            <a:srgbClr val="E9F5F4"/>
          </a:solidFill>
          <a:ln/>
        </p:spPr>
      </p:sp>
      <p:sp>
        <p:nvSpPr>
          <p:cNvPr id="11" name="Shape 9"/>
          <p:cNvSpPr/>
          <p:nvPr/>
        </p:nvSpPr>
        <p:spPr>
          <a:xfrm>
            <a:off x="2633472" y="1572768"/>
            <a:ext cx="475488" cy="475488"/>
          </a:xfrm>
          <a:prstGeom prst="ellipse">
            <a:avLst/>
          </a:prstGeom>
          <a:solidFill>
            <a:srgbClr val="028090"/>
          </a:solidFill>
          <a:ln/>
        </p:spPr>
      </p:sp>
      <p:sp>
        <p:nvSpPr>
          <p:cNvPr id="12" name="Text 10"/>
          <p:cNvSpPr/>
          <p:nvPr/>
        </p:nvSpPr>
        <p:spPr>
          <a:xfrm>
            <a:off x="2633472" y="157276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3" name="Text 11"/>
          <p:cNvSpPr/>
          <p:nvPr/>
        </p:nvSpPr>
        <p:spPr>
          <a:xfrm>
            <a:off x="2203704" y="2157984"/>
            <a:ext cx="1335024" cy="274320"/>
          </a:xfrm>
          <a:prstGeom prst="rect">
            <a:avLst/>
          </a:prstGeom>
          <a:noFill/>
          <a:ln/>
        </p:spPr>
        <p:txBody>
          <a:bodyPr wrap="square" lIns="0" tIns="0" rIns="0" bIns="0" rtlCol="0" anchor="ctr"/>
          <a:lstStyle/>
          <a:p>
            <a:pPr algn="ctr" indent="0" marL="0">
              <a:buNone/>
            </a:pPr>
            <a:r>
              <a:rPr lang="en-US" sz="1500" b="1" dirty="0">
                <a:solidFill>
                  <a:srgbClr val="17313A"/>
                </a:solidFill>
                <a:latin typeface="Calibri" pitchFamily="34" charset="0"/>
                <a:ea typeface="Calibri" pitchFamily="34" charset="-122"/>
                <a:cs typeface="Calibri" pitchFamily="34" charset="-120"/>
              </a:rPr>
              <a:t>Embed</a:t>
            </a:r>
            <a:endParaRPr lang="en-US" sz="1500" dirty="0"/>
          </a:p>
        </p:txBody>
      </p:sp>
      <p:sp>
        <p:nvSpPr>
          <p:cNvPr id="14" name="Text 12"/>
          <p:cNvSpPr/>
          <p:nvPr/>
        </p:nvSpPr>
        <p:spPr>
          <a:xfrm>
            <a:off x="2249424" y="2450592"/>
            <a:ext cx="1243584" cy="960120"/>
          </a:xfrm>
          <a:prstGeom prst="rect">
            <a:avLst/>
          </a:prstGeom>
          <a:noFill/>
          <a:ln/>
        </p:spPr>
        <p:txBody>
          <a:bodyPr wrap="square" lIns="0" tIns="0" rIns="0" bIns="0" rtlCol="0" anchor="ctr"/>
          <a:lstStyle/>
          <a:p>
            <a:pPr algn="ctr" indent="0" marL="0">
              <a:buNone/>
            </a:pPr>
            <a:r>
              <a:rPr lang="en-US" sz="1050" dirty="0">
                <a:solidFill>
                  <a:srgbClr val="5D7178"/>
                </a:solidFill>
                <a:latin typeface="Calibri" pitchFamily="34" charset="0"/>
                <a:ea typeface="Calibri" pitchFamily="34" charset="-122"/>
                <a:cs typeface="Calibri" pitchFamily="34" charset="-120"/>
              </a:rPr>
              <a:t>Turn each passage into a 1024-number vector</a:t>
            </a:r>
            <a:endParaRPr lang="en-US" sz="1050" dirty="0"/>
          </a:p>
        </p:txBody>
      </p:sp>
      <p:sp>
        <p:nvSpPr>
          <p:cNvPr id="15" name="Shape 13"/>
          <p:cNvSpPr/>
          <p:nvPr/>
        </p:nvSpPr>
        <p:spPr>
          <a:xfrm>
            <a:off x="3611880" y="2441448"/>
            <a:ext cx="192024" cy="0"/>
          </a:xfrm>
          <a:prstGeom prst="line">
            <a:avLst/>
          </a:prstGeom>
          <a:noFill/>
          <a:ln w="19050">
            <a:solidFill>
              <a:srgbClr val="00A896"/>
            </a:solidFill>
            <a:prstDash val="solid"/>
            <a:tailEnd type="triangle"/>
          </a:ln>
        </p:spPr>
      </p:sp>
      <p:sp>
        <p:nvSpPr>
          <p:cNvPr id="16" name="Shape 14"/>
          <p:cNvSpPr/>
          <p:nvPr/>
        </p:nvSpPr>
        <p:spPr>
          <a:xfrm>
            <a:off x="3803904" y="1371600"/>
            <a:ext cx="1481328" cy="2148840"/>
          </a:xfrm>
          <a:prstGeom prst="roundRect">
            <a:avLst>
              <a:gd name="adj" fmla="val 3704"/>
            </a:avLst>
          </a:prstGeom>
          <a:solidFill>
            <a:srgbClr val="E9F5F4"/>
          </a:solidFill>
          <a:ln/>
        </p:spPr>
      </p:sp>
      <p:sp>
        <p:nvSpPr>
          <p:cNvPr id="17" name="Shape 15"/>
          <p:cNvSpPr/>
          <p:nvPr/>
        </p:nvSpPr>
        <p:spPr>
          <a:xfrm>
            <a:off x="4306824" y="1572768"/>
            <a:ext cx="475488" cy="475488"/>
          </a:xfrm>
          <a:prstGeom prst="ellipse">
            <a:avLst/>
          </a:prstGeom>
          <a:solidFill>
            <a:srgbClr val="028090"/>
          </a:solidFill>
          <a:ln/>
        </p:spPr>
      </p:sp>
      <p:sp>
        <p:nvSpPr>
          <p:cNvPr id="18" name="Text 16"/>
          <p:cNvSpPr/>
          <p:nvPr/>
        </p:nvSpPr>
        <p:spPr>
          <a:xfrm>
            <a:off x="4306824" y="157276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9" name="Text 17"/>
          <p:cNvSpPr/>
          <p:nvPr/>
        </p:nvSpPr>
        <p:spPr>
          <a:xfrm>
            <a:off x="3877056" y="2157984"/>
            <a:ext cx="1335024" cy="274320"/>
          </a:xfrm>
          <a:prstGeom prst="rect">
            <a:avLst/>
          </a:prstGeom>
          <a:noFill/>
          <a:ln/>
        </p:spPr>
        <p:txBody>
          <a:bodyPr wrap="square" lIns="0" tIns="0" rIns="0" bIns="0" rtlCol="0" anchor="ctr"/>
          <a:lstStyle/>
          <a:p>
            <a:pPr algn="ctr" indent="0" marL="0">
              <a:buNone/>
            </a:pPr>
            <a:r>
              <a:rPr lang="en-US" sz="1500" b="1" dirty="0">
                <a:solidFill>
                  <a:srgbClr val="17313A"/>
                </a:solidFill>
                <a:latin typeface="Calibri" pitchFamily="34" charset="0"/>
                <a:ea typeface="Calibri" pitchFamily="34" charset="-122"/>
                <a:cs typeface="Calibri" pitchFamily="34" charset="-120"/>
              </a:rPr>
              <a:t>Store</a:t>
            </a:r>
            <a:endParaRPr lang="en-US" sz="1500" dirty="0"/>
          </a:p>
        </p:txBody>
      </p:sp>
      <p:sp>
        <p:nvSpPr>
          <p:cNvPr id="20" name="Text 18"/>
          <p:cNvSpPr/>
          <p:nvPr/>
        </p:nvSpPr>
        <p:spPr>
          <a:xfrm>
            <a:off x="3922776" y="2450592"/>
            <a:ext cx="1243584" cy="960120"/>
          </a:xfrm>
          <a:prstGeom prst="rect">
            <a:avLst/>
          </a:prstGeom>
          <a:noFill/>
          <a:ln/>
        </p:spPr>
        <p:txBody>
          <a:bodyPr wrap="square" lIns="0" tIns="0" rIns="0" bIns="0" rtlCol="0" anchor="ctr"/>
          <a:lstStyle/>
          <a:p>
            <a:pPr algn="ctr" indent="0" marL="0">
              <a:buNone/>
            </a:pPr>
            <a:r>
              <a:rPr lang="en-US" sz="1050" dirty="0">
                <a:solidFill>
                  <a:srgbClr val="5D7178"/>
                </a:solidFill>
                <a:latin typeface="Calibri" pitchFamily="34" charset="0"/>
                <a:ea typeface="Calibri" pitchFamily="34" charset="-122"/>
                <a:cs typeface="Calibri" pitchFamily="34" charset="-120"/>
              </a:rPr>
              <a:t>Keep text + vectors in a SQLite database</a:t>
            </a:r>
            <a:endParaRPr lang="en-US" sz="1050" dirty="0"/>
          </a:p>
        </p:txBody>
      </p:sp>
      <p:sp>
        <p:nvSpPr>
          <p:cNvPr id="21" name="Shape 19"/>
          <p:cNvSpPr/>
          <p:nvPr/>
        </p:nvSpPr>
        <p:spPr>
          <a:xfrm>
            <a:off x="5285232" y="2441448"/>
            <a:ext cx="192024" cy="0"/>
          </a:xfrm>
          <a:prstGeom prst="line">
            <a:avLst/>
          </a:prstGeom>
          <a:noFill/>
          <a:ln w="19050">
            <a:solidFill>
              <a:srgbClr val="00A896"/>
            </a:solidFill>
            <a:prstDash val="solid"/>
            <a:tailEnd type="triangle"/>
          </a:ln>
        </p:spPr>
      </p:sp>
      <p:sp>
        <p:nvSpPr>
          <p:cNvPr id="22" name="Shape 20"/>
          <p:cNvSpPr/>
          <p:nvPr/>
        </p:nvSpPr>
        <p:spPr>
          <a:xfrm>
            <a:off x="5477256" y="1371600"/>
            <a:ext cx="1481328" cy="2148840"/>
          </a:xfrm>
          <a:prstGeom prst="roundRect">
            <a:avLst>
              <a:gd name="adj" fmla="val 3704"/>
            </a:avLst>
          </a:prstGeom>
          <a:solidFill>
            <a:srgbClr val="E9F5F4"/>
          </a:solidFill>
          <a:ln/>
        </p:spPr>
      </p:sp>
      <p:sp>
        <p:nvSpPr>
          <p:cNvPr id="23" name="Shape 21"/>
          <p:cNvSpPr/>
          <p:nvPr/>
        </p:nvSpPr>
        <p:spPr>
          <a:xfrm>
            <a:off x="5980176" y="1572768"/>
            <a:ext cx="475488" cy="475488"/>
          </a:xfrm>
          <a:prstGeom prst="ellipse">
            <a:avLst/>
          </a:prstGeom>
          <a:solidFill>
            <a:srgbClr val="028090"/>
          </a:solidFill>
          <a:ln/>
        </p:spPr>
      </p:sp>
      <p:sp>
        <p:nvSpPr>
          <p:cNvPr id="24" name="Text 22"/>
          <p:cNvSpPr/>
          <p:nvPr/>
        </p:nvSpPr>
        <p:spPr>
          <a:xfrm>
            <a:off x="5980176" y="157276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5" name="Text 23"/>
          <p:cNvSpPr/>
          <p:nvPr/>
        </p:nvSpPr>
        <p:spPr>
          <a:xfrm>
            <a:off x="5550408" y="2157984"/>
            <a:ext cx="1335024" cy="274320"/>
          </a:xfrm>
          <a:prstGeom prst="rect">
            <a:avLst/>
          </a:prstGeom>
          <a:noFill/>
          <a:ln/>
        </p:spPr>
        <p:txBody>
          <a:bodyPr wrap="square" lIns="0" tIns="0" rIns="0" bIns="0" rtlCol="0" anchor="ctr"/>
          <a:lstStyle/>
          <a:p>
            <a:pPr algn="ctr" indent="0" marL="0">
              <a:buNone/>
            </a:pPr>
            <a:r>
              <a:rPr lang="en-US" sz="1500" b="1" dirty="0">
                <a:solidFill>
                  <a:srgbClr val="17313A"/>
                </a:solidFill>
                <a:latin typeface="Calibri" pitchFamily="34" charset="0"/>
                <a:ea typeface="Calibri" pitchFamily="34" charset="-122"/>
                <a:cs typeface="Calibri" pitchFamily="34" charset="-120"/>
              </a:rPr>
              <a:t>Retrieve</a:t>
            </a:r>
            <a:endParaRPr lang="en-US" sz="1500" dirty="0"/>
          </a:p>
        </p:txBody>
      </p:sp>
      <p:sp>
        <p:nvSpPr>
          <p:cNvPr id="26" name="Text 24"/>
          <p:cNvSpPr/>
          <p:nvPr/>
        </p:nvSpPr>
        <p:spPr>
          <a:xfrm>
            <a:off x="5596128" y="2450592"/>
            <a:ext cx="1243584" cy="960120"/>
          </a:xfrm>
          <a:prstGeom prst="rect">
            <a:avLst/>
          </a:prstGeom>
          <a:noFill/>
          <a:ln/>
        </p:spPr>
        <p:txBody>
          <a:bodyPr wrap="square" lIns="0" tIns="0" rIns="0" bIns="0" rtlCol="0" anchor="ctr"/>
          <a:lstStyle/>
          <a:p>
            <a:pPr algn="ctr" indent="0" marL="0">
              <a:buNone/>
            </a:pPr>
            <a:r>
              <a:rPr lang="en-US" sz="1050" dirty="0">
                <a:solidFill>
                  <a:srgbClr val="5D7178"/>
                </a:solidFill>
                <a:latin typeface="Calibri" pitchFamily="34" charset="0"/>
                <a:ea typeface="Calibri" pitchFamily="34" charset="-122"/>
                <a:cs typeface="Calibri" pitchFamily="34" charset="-120"/>
              </a:rPr>
              <a:t>Score the question against every passage</a:t>
            </a:r>
            <a:endParaRPr lang="en-US" sz="1050" dirty="0"/>
          </a:p>
        </p:txBody>
      </p:sp>
      <p:sp>
        <p:nvSpPr>
          <p:cNvPr id="27" name="Shape 25"/>
          <p:cNvSpPr/>
          <p:nvPr/>
        </p:nvSpPr>
        <p:spPr>
          <a:xfrm>
            <a:off x="6958584" y="2441448"/>
            <a:ext cx="192024" cy="0"/>
          </a:xfrm>
          <a:prstGeom prst="line">
            <a:avLst/>
          </a:prstGeom>
          <a:noFill/>
          <a:ln w="19050">
            <a:solidFill>
              <a:srgbClr val="00A896"/>
            </a:solidFill>
            <a:prstDash val="solid"/>
            <a:tailEnd type="triangle"/>
          </a:ln>
        </p:spPr>
      </p:sp>
      <p:sp>
        <p:nvSpPr>
          <p:cNvPr id="28" name="Shape 26"/>
          <p:cNvSpPr/>
          <p:nvPr/>
        </p:nvSpPr>
        <p:spPr>
          <a:xfrm>
            <a:off x="7150608" y="1371600"/>
            <a:ext cx="1481328" cy="2148840"/>
          </a:xfrm>
          <a:prstGeom prst="roundRect">
            <a:avLst>
              <a:gd name="adj" fmla="val 3704"/>
            </a:avLst>
          </a:prstGeom>
          <a:solidFill>
            <a:srgbClr val="028090"/>
          </a:solidFill>
          <a:ln/>
        </p:spPr>
      </p:sp>
      <p:sp>
        <p:nvSpPr>
          <p:cNvPr id="29" name="Shape 27"/>
          <p:cNvSpPr/>
          <p:nvPr/>
        </p:nvSpPr>
        <p:spPr>
          <a:xfrm>
            <a:off x="7653528" y="1572768"/>
            <a:ext cx="475488" cy="475488"/>
          </a:xfrm>
          <a:prstGeom prst="ellipse">
            <a:avLst/>
          </a:prstGeom>
          <a:solidFill>
            <a:srgbClr val="FFFFFF"/>
          </a:solidFill>
          <a:ln/>
        </p:spPr>
      </p:sp>
      <p:sp>
        <p:nvSpPr>
          <p:cNvPr id="30" name="Text 28"/>
          <p:cNvSpPr/>
          <p:nvPr/>
        </p:nvSpPr>
        <p:spPr>
          <a:xfrm>
            <a:off x="7653528" y="1572768"/>
            <a:ext cx="475488" cy="475488"/>
          </a:xfrm>
          <a:prstGeom prst="rect">
            <a:avLst/>
          </a:prstGeom>
          <a:noFill/>
          <a:ln/>
        </p:spPr>
        <p:txBody>
          <a:bodyPr wrap="square" lIns="0" tIns="0" rIns="0" bIns="0" rtlCol="0" anchor="ctr"/>
          <a:lstStyle/>
          <a:p>
            <a:pPr algn="ctr" indent="0" marL="0">
              <a:buNone/>
            </a:pPr>
            <a:r>
              <a:rPr lang="en-US" sz="1700" b="1" dirty="0">
                <a:solidFill>
                  <a:srgbClr val="028090"/>
                </a:solidFill>
                <a:latin typeface="Calibri" pitchFamily="34" charset="0"/>
                <a:ea typeface="Calibri" pitchFamily="34" charset="-122"/>
                <a:cs typeface="Calibri" pitchFamily="34" charset="-120"/>
              </a:rPr>
              <a:t>5</a:t>
            </a:r>
            <a:endParaRPr lang="en-US" sz="1700" dirty="0"/>
          </a:p>
        </p:txBody>
      </p:sp>
      <p:sp>
        <p:nvSpPr>
          <p:cNvPr id="31" name="Text 29"/>
          <p:cNvSpPr/>
          <p:nvPr/>
        </p:nvSpPr>
        <p:spPr>
          <a:xfrm>
            <a:off x="7223760" y="2157984"/>
            <a:ext cx="1335024" cy="2743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Generate</a:t>
            </a:r>
            <a:endParaRPr lang="en-US" sz="1500" dirty="0"/>
          </a:p>
        </p:txBody>
      </p:sp>
      <p:sp>
        <p:nvSpPr>
          <p:cNvPr id="32" name="Text 30"/>
          <p:cNvSpPr/>
          <p:nvPr/>
        </p:nvSpPr>
        <p:spPr>
          <a:xfrm>
            <a:off x="7269480" y="2450592"/>
            <a:ext cx="1243584" cy="960120"/>
          </a:xfrm>
          <a:prstGeom prst="rect">
            <a:avLst/>
          </a:prstGeom>
          <a:noFill/>
          <a:ln/>
        </p:spPr>
        <p:txBody>
          <a:bodyPr wrap="square" lIns="0" tIns="0" rIns="0" bIns="0" rtlCol="0" anchor="ctr"/>
          <a:lstStyle/>
          <a:p>
            <a:pPr algn="ctr" indent="0" marL="0">
              <a:buNone/>
            </a:pPr>
            <a:r>
              <a:rPr lang="en-US" sz="1050" dirty="0">
                <a:solidFill>
                  <a:srgbClr val="D8F2EF"/>
                </a:solidFill>
                <a:latin typeface="Calibri" pitchFamily="34" charset="0"/>
                <a:ea typeface="Calibri" pitchFamily="34" charset="-122"/>
                <a:cs typeface="Calibri" pitchFamily="34" charset="-120"/>
              </a:rPr>
              <a:t>Local model answers from those passages only</a:t>
            </a:r>
            <a:endParaRPr lang="en-US" sz="1050" dirty="0"/>
          </a:p>
        </p:txBody>
      </p:sp>
      <p:sp>
        <p:nvSpPr>
          <p:cNvPr id="33" name="Text 31"/>
          <p:cNvSpPr/>
          <p:nvPr/>
        </p:nvSpPr>
        <p:spPr>
          <a:xfrm>
            <a:off x="457200" y="3886200"/>
            <a:ext cx="8229600" cy="411480"/>
          </a:xfrm>
          <a:prstGeom prst="rect">
            <a:avLst/>
          </a:prstGeom>
          <a:noFill/>
          <a:ln/>
        </p:spPr>
        <p:txBody>
          <a:bodyPr wrap="square" lIns="0" tIns="0" rIns="0" bIns="0" rtlCol="0" anchor="ctr"/>
          <a:lstStyle/>
          <a:p>
            <a:pPr indent="0" marL="0">
              <a:buNone/>
            </a:pPr>
            <a:r>
              <a:rPr lang="en-US" sz="1300" dirty="0">
                <a:solidFill>
                  <a:srgbClr val="17313A"/>
                </a:solidFill>
                <a:latin typeface="Calibri" pitchFamily="34" charset="0"/>
                <a:ea typeface="Calibri" pitchFamily="34" charset="-122"/>
                <a:cs typeface="Calibri" pitchFamily="34" charset="-120"/>
              </a:rPr>
              <a:t>The model never memorises my notes. It is handed the relevant passages at question time — which is why the answer can cite a filename.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109728"/>
            <a:ext cx="8138160" cy="256032"/>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WHAT I BUILT</a:t>
            </a:r>
            <a:endParaRPr lang="en-US" sz="1100" dirty="0"/>
          </a:p>
        </p:txBody>
      </p:sp>
      <p:sp>
        <p:nvSpPr>
          <p:cNvPr id="3" name="Text 1"/>
          <p:cNvSpPr/>
          <p:nvPr/>
        </p:nvSpPr>
        <p:spPr>
          <a:xfrm>
            <a:off x="502920" y="347472"/>
            <a:ext cx="8138160" cy="640080"/>
          </a:xfrm>
          <a:prstGeom prst="rect">
            <a:avLst/>
          </a:prstGeom>
          <a:noFill/>
          <a:ln/>
        </p:spPr>
        <p:txBody>
          <a:bodyPr wrap="square" lIns="0" tIns="0" rIns="0" bIns="0" rtlCol="0" anchor="ctr"/>
          <a:lstStyle/>
          <a:p>
            <a:pPr indent="0" marL="0">
              <a:buNone/>
            </a:pPr>
            <a:r>
              <a:rPr lang="en-US" sz="3200" b="1" dirty="0">
                <a:solidFill>
                  <a:srgbClr val="17313A"/>
                </a:solidFill>
                <a:latin typeface="Cambria" pitchFamily="34" charset="0"/>
                <a:ea typeface="Cambria" pitchFamily="34" charset="-122"/>
                <a:cs typeface="Cambria" pitchFamily="34" charset="-120"/>
              </a:rPr>
              <a:t>Every part runs on my laptop</a:t>
            </a:r>
            <a:endParaRPr lang="en-US" sz="3200" dirty="0"/>
          </a:p>
        </p:txBody>
      </p:sp>
      <p:sp>
        <p:nvSpPr>
          <p:cNvPr id="4" name="Shape 2"/>
          <p:cNvSpPr/>
          <p:nvPr/>
        </p:nvSpPr>
        <p:spPr>
          <a:xfrm>
            <a:off x="457200" y="1325880"/>
            <a:ext cx="2606040" cy="1298448"/>
          </a:xfrm>
          <a:prstGeom prst="roundRect">
            <a:avLst>
              <a:gd name="adj" fmla="val 4225"/>
            </a:avLst>
          </a:prstGeom>
          <a:solidFill>
            <a:srgbClr val="FFFFFF"/>
          </a:solidFill>
          <a:ln w="12700">
            <a:solidFill>
              <a:srgbClr val="D3E6E5"/>
            </a:solidFill>
            <a:prstDash val="solid"/>
          </a:ln>
        </p:spPr>
      </p:sp>
      <p:sp>
        <p:nvSpPr>
          <p:cNvPr id="5" name="Text 3"/>
          <p:cNvSpPr/>
          <p:nvPr/>
        </p:nvSpPr>
        <p:spPr>
          <a:xfrm>
            <a:off x="640080" y="1472184"/>
            <a:ext cx="2286000" cy="219456"/>
          </a:xfrm>
          <a:prstGeom prst="rect">
            <a:avLst/>
          </a:prstGeom>
          <a:noFill/>
          <a:ln/>
        </p:spPr>
        <p:txBody>
          <a:bodyPr wrap="square" lIns="0" tIns="0" rIns="0" bIns="0" rtlCol="0" anchor="ctr"/>
          <a:lstStyle/>
          <a:p>
            <a:pPr indent="0" marL="0">
              <a:buNone/>
            </a:pPr>
            <a:r>
              <a:rPr lang="en-US" sz="950" b="1" spc="120" kern="0" dirty="0">
                <a:solidFill>
                  <a:srgbClr val="00A896"/>
                </a:solidFill>
                <a:latin typeface="Calibri" pitchFamily="34" charset="0"/>
                <a:ea typeface="Calibri" pitchFamily="34" charset="-122"/>
                <a:cs typeface="Calibri" pitchFamily="34" charset="-120"/>
              </a:rPr>
              <a:t>DATA SOURCE</a:t>
            </a:r>
            <a:endParaRPr lang="en-US" sz="950" dirty="0"/>
          </a:p>
        </p:txBody>
      </p:sp>
      <p:sp>
        <p:nvSpPr>
          <p:cNvPr id="6" name="Text 4"/>
          <p:cNvSpPr/>
          <p:nvPr/>
        </p:nvSpPr>
        <p:spPr>
          <a:xfrm>
            <a:off x="640080" y="1737360"/>
            <a:ext cx="2286000" cy="329184"/>
          </a:xfrm>
          <a:prstGeom prst="rect">
            <a:avLst/>
          </a:prstGeom>
          <a:noFill/>
          <a:ln/>
        </p:spPr>
        <p:txBody>
          <a:bodyPr wrap="square" lIns="0" tIns="0" rIns="0" bIns="0" rtlCol="0" anchor="ctr"/>
          <a:lstStyle/>
          <a:p>
            <a:pPr indent="0" marL="0">
              <a:buNone/>
            </a:pPr>
            <a:r>
              <a:rPr lang="en-US" sz="1500" b="1" dirty="0">
                <a:solidFill>
                  <a:srgbClr val="17313A"/>
                </a:solidFill>
                <a:latin typeface="Calibri" pitchFamily="34" charset="0"/>
                <a:ea typeface="Calibri" pitchFamily="34" charset="-122"/>
                <a:cs typeface="Calibri" pitchFamily="34" charset="-120"/>
              </a:rPr>
              <a:t>docs/ folder</a:t>
            </a:r>
            <a:endParaRPr lang="en-US" sz="1500" dirty="0"/>
          </a:p>
        </p:txBody>
      </p:sp>
      <p:sp>
        <p:nvSpPr>
          <p:cNvPr id="7" name="Text 5"/>
          <p:cNvSpPr/>
          <p:nvPr/>
        </p:nvSpPr>
        <p:spPr>
          <a:xfrm>
            <a:off x="640080" y="2112264"/>
            <a:ext cx="2286000" cy="274320"/>
          </a:xfrm>
          <a:prstGeom prst="rect">
            <a:avLst/>
          </a:prstGeom>
          <a:noFill/>
          <a:ln/>
        </p:spPr>
        <p:txBody>
          <a:bodyPr wrap="square" lIns="0" tIns="0" rIns="0" bIns="0" rtlCol="0" anchor="ctr"/>
          <a:lstStyle/>
          <a:p>
            <a:pPr indent="0" marL="0">
              <a:buNone/>
            </a:pPr>
            <a:r>
              <a:rPr lang="en-US" sz="1150" dirty="0">
                <a:solidFill>
                  <a:srgbClr val="5D7178"/>
                </a:solidFill>
                <a:latin typeface="Calibri" pitchFamily="34" charset="0"/>
                <a:ea typeface="Calibri" pitchFamily="34" charset="-122"/>
                <a:cs typeface="Calibri" pitchFamily="34" charset="-120"/>
              </a:rPr>
              <a:t>txt · md · pdf · docx</a:t>
            </a:r>
            <a:endParaRPr lang="en-US" sz="1150" dirty="0"/>
          </a:p>
        </p:txBody>
      </p:sp>
      <p:sp>
        <p:nvSpPr>
          <p:cNvPr id="8" name="Shape 6"/>
          <p:cNvSpPr/>
          <p:nvPr/>
        </p:nvSpPr>
        <p:spPr>
          <a:xfrm>
            <a:off x="3246120" y="1325880"/>
            <a:ext cx="2606040" cy="1298448"/>
          </a:xfrm>
          <a:prstGeom prst="roundRect">
            <a:avLst>
              <a:gd name="adj" fmla="val 4225"/>
            </a:avLst>
          </a:prstGeom>
          <a:solidFill>
            <a:srgbClr val="FFFFFF"/>
          </a:solidFill>
          <a:ln w="12700">
            <a:solidFill>
              <a:srgbClr val="D3E6E5"/>
            </a:solidFill>
            <a:prstDash val="solid"/>
          </a:ln>
        </p:spPr>
      </p:sp>
      <p:sp>
        <p:nvSpPr>
          <p:cNvPr id="9" name="Text 7"/>
          <p:cNvSpPr/>
          <p:nvPr/>
        </p:nvSpPr>
        <p:spPr>
          <a:xfrm>
            <a:off x="3429000" y="1472184"/>
            <a:ext cx="2286000" cy="219456"/>
          </a:xfrm>
          <a:prstGeom prst="rect">
            <a:avLst/>
          </a:prstGeom>
          <a:noFill/>
          <a:ln/>
        </p:spPr>
        <p:txBody>
          <a:bodyPr wrap="square" lIns="0" tIns="0" rIns="0" bIns="0" rtlCol="0" anchor="ctr"/>
          <a:lstStyle/>
          <a:p>
            <a:pPr indent="0" marL="0">
              <a:buNone/>
            </a:pPr>
            <a:r>
              <a:rPr lang="en-US" sz="950" b="1" spc="120" kern="0" dirty="0">
                <a:solidFill>
                  <a:srgbClr val="00A896"/>
                </a:solidFill>
                <a:latin typeface="Calibri" pitchFamily="34" charset="0"/>
                <a:ea typeface="Calibri" pitchFamily="34" charset="-122"/>
                <a:cs typeface="Calibri" pitchFamily="34" charset="-120"/>
              </a:rPr>
              <a:t>EMBEDDINGS</a:t>
            </a:r>
            <a:endParaRPr lang="en-US" sz="950" dirty="0"/>
          </a:p>
        </p:txBody>
      </p:sp>
      <p:sp>
        <p:nvSpPr>
          <p:cNvPr id="10" name="Text 8"/>
          <p:cNvSpPr/>
          <p:nvPr/>
        </p:nvSpPr>
        <p:spPr>
          <a:xfrm>
            <a:off x="3429000" y="1737360"/>
            <a:ext cx="2286000" cy="329184"/>
          </a:xfrm>
          <a:prstGeom prst="rect">
            <a:avLst/>
          </a:prstGeom>
          <a:noFill/>
          <a:ln/>
        </p:spPr>
        <p:txBody>
          <a:bodyPr wrap="square" lIns="0" tIns="0" rIns="0" bIns="0" rtlCol="0" anchor="ctr"/>
          <a:lstStyle/>
          <a:p>
            <a:pPr indent="0" marL="0">
              <a:buNone/>
            </a:pPr>
            <a:r>
              <a:rPr lang="en-US" sz="1500" b="1" dirty="0">
                <a:solidFill>
                  <a:srgbClr val="17313A"/>
                </a:solidFill>
                <a:latin typeface="Calibri" pitchFamily="34" charset="0"/>
                <a:ea typeface="Calibri" pitchFamily="34" charset="-122"/>
                <a:cs typeface="Calibri" pitchFamily="34" charset="-120"/>
              </a:rPr>
              <a:t>qwen3-embedding-0.6b</a:t>
            </a:r>
            <a:endParaRPr lang="en-US" sz="1500" dirty="0"/>
          </a:p>
        </p:txBody>
      </p:sp>
      <p:sp>
        <p:nvSpPr>
          <p:cNvPr id="11" name="Text 9"/>
          <p:cNvSpPr/>
          <p:nvPr/>
        </p:nvSpPr>
        <p:spPr>
          <a:xfrm>
            <a:off x="3429000" y="2112264"/>
            <a:ext cx="2286000" cy="274320"/>
          </a:xfrm>
          <a:prstGeom prst="rect">
            <a:avLst/>
          </a:prstGeom>
          <a:noFill/>
          <a:ln/>
        </p:spPr>
        <p:txBody>
          <a:bodyPr wrap="square" lIns="0" tIns="0" rIns="0" bIns="0" rtlCol="0" anchor="ctr"/>
          <a:lstStyle/>
          <a:p>
            <a:pPr indent="0" marL="0">
              <a:buNone/>
            </a:pPr>
            <a:r>
              <a:rPr lang="en-US" sz="1150" dirty="0">
                <a:solidFill>
                  <a:srgbClr val="5D7178"/>
                </a:solidFill>
                <a:latin typeface="Calibri" pitchFamily="34" charset="0"/>
                <a:ea typeface="Calibri" pitchFamily="34" charset="-122"/>
                <a:cs typeface="Calibri" pitchFamily="34" charset="-120"/>
              </a:rPr>
              <a:t>1024 dimensions</a:t>
            </a:r>
            <a:endParaRPr lang="en-US" sz="1150" dirty="0"/>
          </a:p>
        </p:txBody>
      </p:sp>
      <p:sp>
        <p:nvSpPr>
          <p:cNvPr id="12" name="Shape 10"/>
          <p:cNvSpPr/>
          <p:nvPr/>
        </p:nvSpPr>
        <p:spPr>
          <a:xfrm>
            <a:off x="6035040" y="1325880"/>
            <a:ext cx="2606040" cy="1298448"/>
          </a:xfrm>
          <a:prstGeom prst="roundRect">
            <a:avLst>
              <a:gd name="adj" fmla="val 4225"/>
            </a:avLst>
          </a:prstGeom>
          <a:solidFill>
            <a:srgbClr val="FFFFFF"/>
          </a:solidFill>
          <a:ln w="12700">
            <a:solidFill>
              <a:srgbClr val="D3E6E5"/>
            </a:solidFill>
            <a:prstDash val="solid"/>
          </a:ln>
        </p:spPr>
      </p:sp>
      <p:sp>
        <p:nvSpPr>
          <p:cNvPr id="13" name="Text 11"/>
          <p:cNvSpPr/>
          <p:nvPr/>
        </p:nvSpPr>
        <p:spPr>
          <a:xfrm>
            <a:off x="6217920" y="1472184"/>
            <a:ext cx="2286000" cy="219456"/>
          </a:xfrm>
          <a:prstGeom prst="rect">
            <a:avLst/>
          </a:prstGeom>
          <a:noFill/>
          <a:ln/>
        </p:spPr>
        <p:txBody>
          <a:bodyPr wrap="square" lIns="0" tIns="0" rIns="0" bIns="0" rtlCol="0" anchor="ctr"/>
          <a:lstStyle/>
          <a:p>
            <a:pPr indent="0" marL="0">
              <a:buNone/>
            </a:pPr>
            <a:r>
              <a:rPr lang="en-US" sz="950" b="1" spc="120" kern="0" dirty="0">
                <a:solidFill>
                  <a:srgbClr val="00A896"/>
                </a:solidFill>
                <a:latin typeface="Calibri" pitchFamily="34" charset="0"/>
                <a:ea typeface="Calibri" pitchFamily="34" charset="-122"/>
                <a:cs typeface="Calibri" pitchFamily="34" charset="-120"/>
              </a:rPr>
              <a:t>VECTOR STORE</a:t>
            </a:r>
            <a:endParaRPr lang="en-US" sz="950" dirty="0"/>
          </a:p>
        </p:txBody>
      </p:sp>
      <p:sp>
        <p:nvSpPr>
          <p:cNvPr id="14" name="Text 12"/>
          <p:cNvSpPr/>
          <p:nvPr/>
        </p:nvSpPr>
        <p:spPr>
          <a:xfrm>
            <a:off x="6217920" y="1737360"/>
            <a:ext cx="2286000" cy="329184"/>
          </a:xfrm>
          <a:prstGeom prst="rect">
            <a:avLst/>
          </a:prstGeom>
          <a:noFill/>
          <a:ln/>
        </p:spPr>
        <p:txBody>
          <a:bodyPr wrap="square" lIns="0" tIns="0" rIns="0" bIns="0" rtlCol="0" anchor="ctr"/>
          <a:lstStyle/>
          <a:p>
            <a:pPr indent="0" marL="0">
              <a:buNone/>
            </a:pPr>
            <a:r>
              <a:rPr lang="en-US" sz="1500" b="1" dirty="0">
                <a:solidFill>
                  <a:srgbClr val="17313A"/>
                </a:solidFill>
                <a:latin typeface="Calibri" pitchFamily="34" charset="0"/>
                <a:ea typeface="Calibri" pitchFamily="34" charset="-122"/>
                <a:cs typeface="Calibri" pitchFamily="34" charset="-120"/>
              </a:rPr>
              <a:t>SQLite — rag.db</a:t>
            </a:r>
            <a:endParaRPr lang="en-US" sz="1500" dirty="0"/>
          </a:p>
        </p:txBody>
      </p:sp>
      <p:sp>
        <p:nvSpPr>
          <p:cNvPr id="15" name="Text 13"/>
          <p:cNvSpPr/>
          <p:nvPr/>
        </p:nvSpPr>
        <p:spPr>
          <a:xfrm>
            <a:off x="6217920" y="2112264"/>
            <a:ext cx="2286000" cy="274320"/>
          </a:xfrm>
          <a:prstGeom prst="rect">
            <a:avLst/>
          </a:prstGeom>
          <a:noFill/>
          <a:ln/>
        </p:spPr>
        <p:txBody>
          <a:bodyPr wrap="square" lIns="0" tIns="0" rIns="0" bIns="0" rtlCol="0" anchor="ctr"/>
          <a:lstStyle/>
          <a:p>
            <a:pPr indent="0" marL="0">
              <a:buNone/>
            </a:pPr>
            <a:r>
              <a:rPr lang="en-US" sz="1150" dirty="0">
                <a:solidFill>
                  <a:srgbClr val="5D7178"/>
                </a:solidFill>
                <a:latin typeface="Calibri" pitchFamily="34" charset="0"/>
                <a:ea typeface="Calibri" pitchFamily="34" charset="-122"/>
                <a:cs typeface="Calibri" pitchFamily="34" charset="-120"/>
              </a:rPr>
              <a:t>no server, one file</a:t>
            </a:r>
            <a:endParaRPr lang="en-US" sz="1150" dirty="0"/>
          </a:p>
        </p:txBody>
      </p:sp>
      <p:sp>
        <p:nvSpPr>
          <p:cNvPr id="16" name="Shape 14"/>
          <p:cNvSpPr/>
          <p:nvPr/>
        </p:nvSpPr>
        <p:spPr>
          <a:xfrm>
            <a:off x="457200" y="2807208"/>
            <a:ext cx="2606040" cy="1298448"/>
          </a:xfrm>
          <a:prstGeom prst="roundRect">
            <a:avLst>
              <a:gd name="adj" fmla="val 4225"/>
            </a:avLst>
          </a:prstGeom>
          <a:solidFill>
            <a:srgbClr val="FFFFFF"/>
          </a:solidFill>
          <a:ln w="12700">
            <a:solidFill>
              <a:srgbClr val="D3E6E5"/>
            </a:solidFill>
            <a:prstDash val="solid"/>
          </a:ln>
        </p:spPr>
      </p:sp>
      <p:sp>
        <p:nvSpPr>
          <p:cNvPr id="17" name="Text 15"/>
          <p:cNvSpPr/>
          <p:nvPr/>
        </p:nvSpPr>
        <p:spPr>
          <a:xfrm>
            <a:off x="640080" y="2953512"/>
            <a:ext cx="2286000" cy="219456"/>
          </a:xfrm>
          <a:prstGeom prst="rect">
            <a:avLst/>
          </a:prstGeom>
          <a:noFill/>
          <a:ln/>
        </p:spPr>
        <p:txBody>
          <a:bodyPr wrap="square" lIns="0" tIns="0" rIns="0" bIns="0" rtlCol="0" anchor="ctr"/>
          <a:lstStyle/>
          <a:p>
            <a:pPr indent="0" marL="0">
              <a:buNone/>
            </a:pPr>
            <a:r>
              <a:rPr lang="en-US" sz="950" b="1" spc="120" kern="0" dirty="0">
                <a:solidFill>
                  <a:srgbClr val="00A896"/>
                </a:solidFill>
                <a:latin typeface="Calibri" pitchFamily="34" charset="0"/>
                <a:ea typeface="Calibri" pitchFamily="34" charset="-122"/>
                <a:cs typeface="Calibri" pitchFamily="34" charset="-120"/>
              </a:rPr>
              <a:t>RETRIEVER</a:t>
            </a:r>
            <a:endParaRPr lang="en-US" sz="950" dirty="0"/>
          </a:p>
        </p:txBody>
      </p:sp>
      <p:sp>
        <p:nvSpPr>
          <p:cNvPr id="18" name="Text 16"/>
          <p:cNvSpPr/>
          <p:nvPr/>
        </p:nvSpPr>
        <p:spPr>
          <a:xfrm>
            <a:off x="640080" y="3218688"/>
            <a:ext cx="2286000" cy="329184"/>
          </a:xfrm>
          <a:prstGeom prst="rect">
            <a:avLst/>
          </a:prstGeom>
          <a:noFill/>
          <a:ln/>
        </p:spPr>
        <p:txBody>
          <a:bodyPr wrap="square" lIns="0" tIns="0" rIns="0" bIns="0" rtlCol="0" anchor="ctr"/>
          <a:lstStyle/>
          <a:p>
            <a:pPr indent="0" marL="0">
              <a:buNone/>
            </a:pPr>
            <a:r>
              <a:rPr lang="en-US" sz="1500" b="1" dirty="0">
                <a:solidFill>
                  <a:srgbClr val="17313A"/>
                </a:solidFill>
                <a:latin typeface="Calibri" pitchFamily="34" charset="0"/>
                <a:ea typeface="Calibri" pitchFamily="34" charset="-122"/>
                <a:cs typeface="Calibri" pitchFamily="34" charset="-120"/>
              </a:rPr>
              <a:t>cosine similarity</a:t>
            </a:r>
            <a:endParaRPr lang="en-US" sz="1500" dirty="0"/>
          </a:p>
        </p:txBody>
      </p:sp>
      <p:sp>
        <p:nvSpPr>
          <p:cNvPr id="19" name="Text 17"/>
          <p:cNvSpPr/>
          <p:nvPr/>
        </p:nvSpPr>
        <p:spPr>
          <a:xfrm>
            <a:off x="640080" y="3593592"/>
            <a:ext cx="2286000" cy="274320"/>
          </a:xfrm>
          <a:prstGeom prst="rect">
            <a:avLst/>
          </a:prstGeom>
          <a:noFill/>
          <a:ln/>
        </p:spPr>
        <p:txBody>
          <a:bodyPr wrap="square" lIns="0" tIns="0" rIns="0" bIns="0" rtlCol="0" anchor="ctr"/>
          <a:lstStyle/>
          <a:p>
            <a:pPr indent="0" marL="0">
              <a:buNone/>
            </a:pPr>
            <a:r>
              <a:rPr lang="en-US" sz="1150" dirty="0">
                <a:solidFill>
                  <a:srgbClr val="5D7178"/>
                </a:solidFill>
                <a:latin typeface="Calibri" pitchFamily="34" charset="0"/>
                <a:ea typeface="Calibri" pitchFamily="34" charset="-122"/>
                <a:cs typeface="Calibri" pitchFamily="34" charset="-120"/>
              </a:rPr>
              <a:t>+ relevance gate</a:t>
            </a:r>
            <a:endParaRPr lang="en-US" sz="1150" dirty="0"/>
          </a:p>
        </p:txBody>
      </p:sp>
      <p:sp>
        <p:nvSpPr>
          <p:cNvPr id="20" name="Shape 18"/>
          <p:cNvSpPr/>
          <p:nvPr/>
        </p:nvSpPr>
        <p:spPr>
          <a:xfrm>
            <a:off x="3246120" y="2807208"/>
            <a:ext cx="2606040" cy="1298448"/>
          </a:xfrm>
          <a:prstGeom prst="roundRect">
            <a:avLst>
              <a:gd name="adj" fmla="val 4225"/>
            </a:avLst>
          </a:prstGeom>
          <a:solidFill>
            <a:srgbClr val="FFFFFF"/>
          </a:solidFill>
          <a:ln w="12700">
            <a:solidFill>
              <a:srgbClr val="D3E6E5"/>
            </a:solidFill>
            <a:prstDash val="solid"/>
          </a:ln>
        </p:spPr>
      </p:sp>
      <p:sp>
        <p:nvSpPr>
          <p:cNvPr id="21" name="Text 19"/>
          <p:cNvSpPr/>
          <p:nvPr/>
        </p:nvSpPr>
        <p:spPr>
          <a:xfrm>
            <a:off x="3429000" y="2953512"/>
            <a:ext cx="2286000" cy="219456"/>
          </a:xfrm>
          <a:prstGeom prst="rect">
            <a:avLst/>
          </a:prstGeom>
          <a:noFill/>
          <a:ln/>
        </p:spPr>
        <p:txBody>
          <a:bodyPr wrap="square" lIns="0" tIns="0" rIns="0" bIns="0" rtlCol="0" anchor="ctr"/>
          <a:lstStyle/>
          <a:p>
            <a:pPr indent="0" marL="0">
              <a:buNone/>
            </a:pPr>
            <a:r>
              <a:rPr lang="en-US" sz="950" b="1" spc="120" kern="0" dirty="0">
                <a:solidFill>
                  <a:srgbClr val="00A896"/>
                </a:solidFill>
                <a:latin typeface="Calibri" pitchFamily="34" charset="0"/>
                <a:ea typeface="Calibri" pitchFamily="34" charset="-122"/>
                <a:cs typeface="Calibri" pitchFamily="34" charset="-120"/>
              </a:rPr>
              <a:t>GENERATOR</a:t>
            </a:r>
            <a:endParaRPr lang="en-US" sz="950" dirty="0"/>
          </a:p>
        </p:txBody>
      </p:sp>
      <p:sp>
        <p:nvSpPr>
          <p:cNvPr id="22" name="Text 20"/>
          <p:cNvSpPr/>
          <p:nvPr/>
        </p:nvSpPr>
        <p:spPr>
          <a:xfrm>
            <a:off x="3429000" y="3218688"/>
            <a:ext cx="2286000" cy="329184"/>
          </a:xfrm>
          <a:prstGeom prst="rect">
            <a:avLst/>
          </a:prstGeom>
          <a:noFill/>
          <a:ln/>
        </p:spPr>
        <p:txBody>
          <a:bodyPr wrap="square" lIns="0" tIns="0" rIns="0" bIns="0" rtlCol="0" anchor="ctr"/>
          <a:lstStyle/>
          <a:p>
            <a:pPr indent="0" marL="0">
              <a:buNone/>
            </a:pPr>
            <a:r>
              <a:rPr lang="en-US" sz="1500" b="1" dirty="0">
                <a:solidFill>
                  <a:srgbClr val="17313A"/>
                </a:solidFill>
                <a:latin typeface="Calibri" pitchFamily="34" charset="0"/>
                <a:ea typeface="Calibri" pitchFamily="34" charset="-122"/>
                <a:cs typeface="Calibri" pitchFamily="34" charset="-120"/>
              </a:rPr>
              <a:t>phi-3.5-mini</a:t>
            </a:r>
            <a:endParaRPr lang="en-US" sz="1500" dirty="0"/>
          </a:p>
        </p:txBody>
      </p:sp>
      <p:sp>
        <p:nvSpPr>
          <p:cNvPr id="23" name="Text 21"/>
          <p:cNvSpPr/>
          <p:nvPr/>
        </p:nvSpPr>
        <p:spPr>
          <a:xfrm>
            <a:off x="3429000" y="3593592"/>
            <a:ext cx="2286000" cy="274320"/>
          </a:xfrm>
          <a:prstGeom prst="rect">
            <a:avLst/>
          </a:prstGeom>
          <a:noFill/>
          <a:ln/>
        </p:spPr>
        <p:txBody>
          <a:bodyPr wrap="square" lIns="0" tIns="0" rIns="0" bIns="0" rtlCol="0" anchor="ctr"/>
          <a:lstStyle/>
          <a:p>
            <a:pPr indent="0" marL="0">
              <a:buNone/>
            </a:pPr>
            <a:r>
              <a:rPr lang="en-US" sz="1150" dirty="0">
                <a:solidFill>
                  <a:srgbClr val="5D7178"/>
                </a:solidFill>
                <a:latin typeface="Calibri" pitchFamily="34" charset="0"/>
                <a:ea typeface="Calibri" pitchFamily="34" charset="-122"/>
                <a:cs typeface="Calibri" pitchFamily="34" charset="-120"/>
              </a:rPr>
              <a:t>3.8B parameters</a:t>
            </a:r>
            <a:endParaRPr lang="en-US" sz="1150" dirty="0"/>
          </a:p>
        </p:txBody>
      </p:sp>
      <p:sp>
        <p:nvSpPr>
          <p:cNvPr id="24" name="Shape 22"/>
          <p:cNvSpPr/>
          <p:nvPr/>
        </p:nvSpPr>
        <p:spPr>
          <a:xfrm>
            <a:off x="6035040" y="2807208"/>
            <a:ext cx="2606040" cy="1298448"/>
          </a:xfrm>
          <a:prstGeom prst="roundRect">
            <a:avLst>
              <a:gd name="adj" fmla="val 4225"/>
            </a:avLst>
          </a:prstGeom>
          <a:solidFill>
            <a:srgbClr val="FFFFFF"/>
          </a:solidFill>
          <a:ln w="12700">
            <a:solidFill>
              <a:srgbClr val="D3E6E5"/>
            </a:solidFill>
            <a:prstDash val="solid"/>
          </a:ln>
        </p:spPr>
      </p:sp>
      <p:sp>
        <p:nvSpPr>
          <p:cNvPr id="25" name="Text 23"/>
          <p:cNvSpPr/>
          <p:nvPr/>
        </p:nvSpPr>
        <p:spPr>
          <a:xfrm>
            <a:off x="6217920" y="2953512"/>
            <a:ext cx="2286000" cy="219456"/>
          </a:xfrm>
          <a:prstGeom prst="rect">
            <a:avLst/>
          </a:prstGeom>
          <a:noFill/>
          <a:ln/>
        </p:spPr>
        <p:txBody>
          <a:bodyPr wrap="square" lIns="0" tIns="0" rIns="0" bIns="0" rtlCol="0" anchor="ctr"/>
          <a:lstStyle/>
          <a:p>
            <a:pPr indent="0" marL="0">
              <a:buNone/>
            </a:pPr>
            <a:r>
              <a:rPr lang="en-US" sz="950" b="1" spc="120" kern="0" dirty="0">
                <a:solidFill>
                  <a:srgbClr val="00A896"/>
                </a:solidFill>
                <a:latin typeface="Calibri" pitchFamily="34" charset="0"/>
                <a:ea typeface="Calibri" pitchFamily="34" charset="-122"/>
                <a:cs typeface="Calibri" pitchFamily="34" charset="-120"/>
              </a:rPr>
              <a:t>RUNTIME</a:t>
            </a:r>
            <a:endParaRPr lang="en-US" sz="950" dirty="0"/>
          </a:p>
        </p:txBody>
      </p:sp>
      <p:sp>
        <p:nvSpPr>
          <p:cNvPr id="26" name="Text 24"/>
          <p:cNvSpPr/>
          <p:nvPr/>
        </p:nvSpPr>
        <p:spPr>
          <a:xfrm>
            <a:off x="6217920" y="3218688"/>
            <a:ext cx="2286000" cy="329184"/>
          </a:xfrm>
          <a:prstGeom prst="rect">
            <a:avLst/>
          </a:prstGeom>
          <a:noFill/>
          <a:ln/>
        </p:spPr>
        <p:txBody>
          <a:bodyPr wrap="square" lIns="0" tIns="0" rIns="0" bIns="0" rtlCol="0" anchor="ctr"/>
          <a:lstStyle/>
          <a:p>
            <a:pPr indent="0" marL="0">
              <a:buNone/>
            </a:pPr>
            <a:r>
              <a:rPr lang="en-US" sz="1500" b="1" dirty="0">
                <a:solidFill>
                  <a:srgbClr val="17313A"/>
                </a:solidFill>
                <a:latin typeface="Calibri" pitchFamily="34" charset="0"/>
                <a:ea typeface="Calibri" pitchFamily="34" charset="-122"/>
                <a:cs typeface="Calibri" pitchFamily="34" charset="-120"/>
              </a:rPr>
              <a:t>Foundry Local</a:t>
            </a:r>
            <a:endParaRPr lang="en-US" sz="1500" dirty="0"/>
          </a:p>
        </p:txBody>
      </p:sp>
      <p:sp>
        <p:nvSpPr>
          <p:cNvPr id="27" name="Text 25"/>
          <p:cNvSpPr/>
          <p:nvPr/>
        </p:nvSpPr>
        <p:spPr>
          <a:xfrm>
            <a:off x="6217920" y="3593592"/>
            <a:ext cx="2286000" cy="274320"/>
          </a:xfrm>
          <a:prstGeom prst="rect">
            <a:avLst/>
          </a:prstGeom>
          <a:noFill/>
          <a:ln/>
        </p:spPr>
        <p:txBody>
          <a:bodyPr wrap="square" lIns="0" tIns="0" rIns="0" bIns="0" rtlCol="0" anchor="ctr"/>
          <a:lstStyle/>
          <a:p>
            <a:pPr indent="0" marL="0">
              <a:buNone/>
            </a:pPr>
            <a:r>
              <a:rPr lang="en-US" sz="1150" dirty="0">
                <a:solidFill>
                  <a:srgbClr val="5D7178"/>
                </a:solidFill>
                <a:latin typeface="Calibri" pitchFamily="34" charset="0"/>
                <a:ea typeface="Calibri" pitchFamily="34" charset="-122"/>
                <a:cs typeface="Calibri" pitchFamily="34" charset="-120"/>
              </a:rPr>
              <a:t>100% on-device</a:t>
            </a:r>
            <a:endParaRPr lang="en-US" sz="1150" dirty="0"/>
          </a:p>
        </p:txBody>
      </p:sp>
      <p:sp>
        <p:nvSpPr>
          <p:cNvPr id="28" name="Shape 26"/>
          <p:cNvSpPr/>
          <p:nvPr/>
        </p:nvSpPr>
        <p:spPr>
          <a:xfrm>
            <a:off x="457200" y="4370832"/>
            <a:ext cx="8229600" cy="502920"/>
          </a:xfrm>
          <a:prstGeom prst="roundRect">
            <a:avLst>
              <a:gd name="adj" fmla="val 10909"/>
            </a:avLst>
          </a:prstGeom>
          <a:solidFill>
            <a:srgbClr val="10343A"/>
          </a:solidFill>
          <a:ln/>
        </p:spPr>
      </p:sp>
      <p:sp>
        <p:nvSpPr>
          <p:cNvPr id="29" name="Text 27"/>
          <p:cNvSpPr/>
          <p:nvPr/>
        </p:nvSpPr>
        <p:spPr>
          <a:xfrm>
            <a:off x="457200" y="4370832"/>
            <a:ext cx="8229600" cy="502920"/>
          </a:xfrm>
          <a:prstGeom prst="rect">
            <a:avLst/>
          </a:prstGeom>
          <a:noFill/>
          <a:ln/>
        </p:spPr>
        <p:txBody>
          <a:bodyPr wrap="square" lIns="0" tIns="0" rIns="0" bIns="0" rtlCol="0" anchor="ctr"/>
          <a:lstStyle/>
          <a:p>
            <a:pPr algn="ctr" indent="0" marL="0">
              <a:buNone/>
            </a:pPr>
            <a:r>
              <a:rPr lang="en-US" sz="1400" b="1" dirty="0">
                <a:solidFill>
                  <a:srgbClr val="02C39A"/>
                </a:solidFill>
                <a:latin typeface="Calibri" pitchFamily="34" charset="0"/>
                <a:ea typeface="Calibri" pitchFamily="34" charset="-122"/>
                <a:cs typeface="Calibri" pitchFamily="34" charset="-120"/>
              </a:rPr>
              <a:t>No internet. No API key. No cloud account. Roughly 800 lines of Python.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109728"/>
            <a:ext cx="8138160" cy="256032"/>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DEMO</a:t>
            </a:r>
            <a:endParaRPr lang="en-US" sz="1100" dirty="0"/>
          </a:p>
        </p:txBody>
      </p:sp>
      <p:sp>
        <p:nvSpPr>
          <p:cNvPr id="3" name="Text 1"/>
          <p:cNvSpPr/>
          <p:nvPr/>
        </p:nvSpPr>
        <p:spPr>
          <a:xfrm>
            <a:off x="502920" y="347472"/>
            <a:ext cx="8138160" cy="640080"/>
          </a:xfrm>
          <a:prstGeom prst="rect">
            <a:avLst/>
          </a:prstGeom>
          <a:noFill/>
          <a:ln/>
        </p:spPr>
        <p:txBody>
          <a:bodyPr wrap="square" lIns="0" tIns="0" rIns="0" bIns="0" rtlCol="0" anchor="ctr"/>
          <a:lstStyle/>
          <a:p>
            <a:pPr indent="0" marL="0">
              <a:buNone/>
            </a:pPr>
            <a:r>
              <a:rPr lang="en-US" sz="3200" b="1" dirty="0">
                <a:solidFill>
                  <a:srgbClr val="17313A"/>
                </a:solidFill>
                <a:latin typeface="Cambria" pitchFamily="34" charset="0"/>
                <a:ea typeface="Cambria" pitchFamily="34" charset="-122"/>
                <a:cs typeface="Cambria" pitchFamily="34" charset="-120"/>
              </a:rPr>
              <a:t>Two questions, two very different answers</a:t>
            </a:r>
            <a:endParaRPr lang="en-US" sz="3200" dirty="0"/>
          </a:p>
        </p:txBody>
      </p:sp>
      <p:sp>
        <p:nvSpPr>
          <p:cNvPr id="4" name="Shape 2"/>
          <p:cNvSpPr/>
          <p:nvPr/>
        </p:nvSpPr>
        <p:spPr>
          <a:xfrm>
            <a:off x="457200" y="1280160"/>
            <a:ext cx="3977640" cy="3063240"/>
          </a:xfrm>
          <a:prstGeom prst="roundRect">
            <a:avLst>
              <a:gd name="adj" fmla="val 1791"/>
            </a:avLst>
          </a:prstGeom>
          <a:solidFill>
            <a:srgbClr val="FFFFFF"/>
          </a:solidFill>
          <a:ln w="19050">
            <a:solidFill>
              <a:srgbClr val="00A896"/>
            </a:solidFill>
            <a:prstDash val="solid"/>
          </a:ln>
        </p:spPr>
      </p:sp>
      <p:sp>
        <p:nvSpPr>
          <p:cNvPr id="5" name="Shape 3"/>
          <p:cNvSpPr/>
          <p:nvPr/>
        </p:nvSpPr>
        <p:spPr>
          <a:xfrm>
            <a:off x="685800" y="1481328"/>
            <a:ext cx="384048" cy="384048"/>
          </a:xfrm>
          <a:prstGeom prst="ellipse">
            <a:avLst/>
          </a:prstGeom>
          <a:solidFill>
            <a:srgbClr val="00A896"/>
          </a:solidFill>
          <a:ln/>
        </p:spPr>
      </p:sp>
      <p:sp>
        <p:nvSpPr>
          <p:cNvPr id="6" name="Text 4"/>
          <p:cNvSpPr/>
          <p:nvPr/>
        </p:nvSpPr>
        <p:spPr>
          <a:xfrm>
            <a:off x="685800" y="148132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7" name="Text 5"/>
          <p:cNvSpPr/>
          <p:nvPr/>
        </p:nvSpPr>
        <p:spPr>
          <a:xfrm>
            <a:off x="1170432" y="1481328"/>
            <a:ext cx="3017520" cy="384048"/>
          </a:xfrm>
          <a:prstGeom prst="rect">
            <a:avLst/>
          </a:prstGeom>
          <a:noFill/>
          <a:ln/>
        </p:spPr>
        <p:txBody>
          <a:bodyPr wrap="square" lIns="0" tIns="0" rIns="0" bIns="0" rtlCol="0" anchor="ctr"/>
          <a:lstStyle/>
          <a:p>
            <a:pPr indent="0" marL="0">
              <a:buNone/>
            </a:pPr>
            <a:r>
              <a:rPr lang="en-US" sz="1400" b="1" dirty="0">
                <a:solidFill>
                  <a:srgbClr val="00A896"/>
                </a:solidFill>
                <a:latin typeface="Calibri" pitchFamily="34" charset="0"/>
                <a:ea typeface="Calibri" pitchFamily="34" charset="-122"/>
                <a:cs typeface="Calibri" pitchFamily="34" charset="-120"/>
              </a:rPr>
              <a:t>In the notes</a:t>
            </a:r>
            <a:endParaRPr lang="en-US" sz="1400" dirty="0"/>
          </a:p>
        </p:txBody>
      </p:sp>
      <p:sp>
        <p:nvSpPr>
          <p:cNvPr id="8" name="Text 6"/>
          <p:cNvSpPr/>
          <p:nvPr/>
        </p:nvSpPr>
        <p:spPr>
          <a:xfrm>
            <a:off x="685800" y="1993392"/>
            <a:ext cx="3520440" cy="320040"/>
          </a:xfrm>
          <a:prstGeom prst="rect">
            <a:avLst/>
          </a:prstGeom>
          <a:noFill/>
          <a:ln/>
        </p:spPr>
        <p:txBody>
          <a:bodyPr wrap="square" lIns="0" tIns="0" rIns="0" bIns="0" rtlCol="0" anchor="ctr"/>
          <a:lstStyle/>
          <a:p>
            <a:pPr indent="0" marL="0">
              <a:buNone/>
            </a:pPr>
            <a:r>
              <a:rPr lang="en-US" sz="1400" b="1" i="1" dirty="0">
                <a:solidFill>
                  <a:srgbClr val="17313A"/>
                </a:solidFill>
                <a:latin typeface="Calibri" pitchFamily="34" charset="0"/>
                <a:ea typeface="Calibri" pitchFamily="34" charset="-122"/>
                <a:cs typeface="Calibri" pitchFamily="34" charset="-120"/>
              </a:rPr>
              <a:t>"How many phases are there?"</a:t>
            </a:r>
            <a:endParaRPr lang="en-US" sz="1400" dirty="0"/>
          </a:p>
        </p:txBody>
      </p:sp>
      <p:sp>
        <p:nvSpPr>
          <p:cNvPr id="9" name="Text 7"/>
          <p:cNvSpPr/>
          <p:nvPr/>
        </p:nvSpPr>
        <p:spPr>
          <a:xfrm>
            <a:off x="685800" y="2377440"/>
            <a:ext cx="3520440" cy="502920"/>
          </a:xfrm>
          <a:prstGeom prst="rect">
            <a:avLst/>
          </a:prstGeom>
          <a:noFill/>
          <a:ln/>
        </p:spPr>
        <p:txBody>
          <a:bodyPr wrap="square" lIns="0" tIns="0" rIns="0" bIns="0" rtlCol="0" anchor="ctr"/>
          <a:lstStyle/>
          <a:p>
            <a:pPr indent="0" marL="0">
              <a:buNone/>
            </a:pPr>
            <a:r>
              <a:rPr lang="en-US" sz="1050" dirty="0">
                <a:solidFill>
                  <a:srgbClr val="5D7178"/>
                </a:solidFill>
                <a:latin typeface="Calibri" pitchFamily="34" charset="0"/>
                <a:ea typeface="Calibri" pitchFamily="34" charset="-122"/>
                <a:cs typeface="Calibri" pitchFamily="34" charset="-120"/>
              </a:rPr>
              <a:t>retrieved from Foundry Local Plan.pdf</a:t>
            </a:r>
            <a:endParaRPr lang="en-US" sz="1050" dirty="0"/>
          </a:p>
          <a:p>
            <a:pPr indent="0" marL="0">
              <a:buNone/>
            </a:pPr>
            <a:r>
              <a:rPr lang="en-US" sz="1050" dirty="0">
                <a:solidFill>
                  <a:srgbClr val="5D7178"/>
                </a:solidFill>
                <a:latin typeface="Calibri" pitchFamily="34" charset="0"/>
                <a:ea typeface="Calibri" pitchFamily="34" charset="-122"/>
                <a:cs typeface="Calibri" pitchFamily="34" charset="-120"/>
              </a:rPr>
              <a:t>top score 0.474  ·  3.3 seconds</a:t>
            </a:r>
            <a:endParaRPr lang="en-US" sz="1050" dirty="0"/>
          </a:p>
        </p:txBody>
      </p:sp>
      <p:sp>
        <p:nvSpPr>
          <p:cNvPr id="10" name="Shape 8"/>
          <p:cNvSpPr/>
          <p:nvPr/>
        </p:nvSpPr>
        <p:spPr>
          <a:xfrm>
            <a:off x="685800" y="2971800"/>
            <a:ext cx="3520440" cy="1097280"/>
          </a:xfrm>
          <a:prstGeom prst="roundRect">
            <a:avLst>
              <a:gd name="adj" fmla="val 5000"/>
            </a:avLst>
          </a:prstGeom>
          <a:solidFill>
            <a:srgbClr val="E9F5F4"/>
          </a:solidFill>
          <a:ln/>
        </p:spPr>
      </p:sp>
      <p:sp>
        <p:nvSpPr>
          <p:cNvPr id="11" name="Text 9"/>
          <p:cNvSpPr/>
          <p:nvPr/>
        </p:nvSpPr>
        <p:spPr>
          <a:xfrm>
            <a:off x="868680" y="2971800"/>
            <a:ext cx="3154680" cy="1097280"/>
          </a:xfrm>
          <a:prstGeom prst="rect">
            <a:avLst/>
          </a:prstGeom>
          <a:noFill/>
          <a:ln/>
        </p:spPr>
        <p:txBody>
          <a:bodyPr wrap="square" lIns="0" tIns="0" rIns="0" bIns="0" rtlCol="0" anchor="ctr"/>
          <a:lstStyle/>
          <a:p>
            <a:pPr indent="0" marL="0">
              <a:buNone/>
            </a:pPr>
            <a:r>
              <a:rPr lang="en-US" sz="1400" dirty="0">
                <a:solidFill>
                  <a:srgbClr val="028090"/>
                </a:solidFill>
                <a:latin typeface="Calibri" pitchFamily="34" charset="0"/>
                <a:ea typeface="Calibri" pitchFamily="34" charset="-122"/>
                <a:cs typeface="Calibri" pitchFamily="34" charset="-120"/>
              </a:rPr>
              <a:t>"There are three phases.</a:t>
            </a:r>
            <a:endParaRPr lang="en-US" sz="1400" dirty="0"/>
          </a:p>
          <a:p>
            <a:pPr indent="0" marL="0">
              <a:buNone/>
            </a:pPr>
            <a:r>
              <a:rPr lang="en-US" sz="1400" dirty="0">
                <a:solidFill>
                  <a:srgbClr val="028090"/>
                </a:solidFill>
                <a:latin typeface="Calibri" pitchFamily="34" charset="0"/>
                <a:ea typeface="Calibri" pitchFamily="34" charset="-122"/>
                <a:cs typeface="Calibri" pitchFamily="34" charset="-120"/>
              </a:rPr>
              <a:t>(Foundry Local Plan.pdf)"</a:t>
            </a:r>
            <a:endParaRPr lang="en-US" sz="1400" dirty="0"/>
          </a:p>
        </p:txBody>
      </p:sp>
      <p:sp>
        <p:nvSpPr>
          <p:cNvPr id="12" name="Shape 10"/>
          <p:cNvSpPr/>
          <p:nvPr/>
        </p:nvSpPr>
        <p:spPr>
          <a:xfrm>
            <a:off x="4709160" y="1280160"/>
            <a:ext cx="3977640" cy="3063240"/>
          </a:xfrm>
          <a:prstGeom prst="roundRect">
            <a:avLst>
              <a:gd name="adj" fmla="val 1791"/>
            </a:avLst>
          </a:prstGeom>
          <a:solidFill>
            <a:srgbClr val="FFFFFF"/>
          </a:solidFill>
          <a:ln w="19050">
            <a:solidFill>
              <a:srgbClr val="B5453C"/>
            </a:solidFill>
            <a:prstDash val="solid"/>
          </a:ln>
        </p:spPr>
      </p:sp>
      <p:sp>
        <p:nvSpPr>
          <p:cNvPr id="13" name="Shape 11"/>
          <p:cNvSpPr/>
          <p:nvPr/>
        </p:nvSpPr>
        <p:spPr>
          <a:xfrm>
            <a:off x="4937760" y="1481328"/>
            <a:ext cx="384048" cy="384048"/>
          </a:xfrm>
          <a:prstGeom prst="ellipse">
            <a:avLst/>
          </a:prstGeom>
          <a:solidFill>
            <a:srgbClr val="B5453C"/>
          </a:solidFill>
          <a:ln/>
        </p:spPr>
      </p:sp>
      <p:sp>
        <p:nvSpPr>
          <p:cNvPr id="14" name="Text 12"/>
          <p:cNvSpPr/>
          <p:nvPr/>
        </p:nvSpPr>
        <p:spPr>
          <a:xfrm>
            <a:off x="4937760" y="14813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5" name="Text 13"/>
          <p:cNvSpPr/>
          <p:nvPr/>
        </p:nvSpPr>
        <p:spPr>
          <a:xfrm>
            <a:off x="5422392" y="1481328"/>
            <a:ext cx="3017520" cy="384048"/>
          </a:xfrm>
          <a:prstGeom prst="rect">
            <a:avLst/>
          </a:prstGeom>
          <a:noFill/>
          <a:ln/>
        </p:spPr>
        <p:txBody>
          <a:bodyPr wrap="square" lIns="0" tIns="0" rIns="0" bIns="0" rtlCol="0" anchor="ctr"/>
          <a:lstStyle/>
          <a:p>
            <a:pPr indent="0" marL="0">
              <a:buNone/>
            </a:pPr>
            <a:r>
              <a:rPr lang="en-US" sz="1400" b="1" dirty="0">
                <a:solidFill>
                  <a:srgbClr val="B5453C"/>
                </a:solidFill>
                <a:latin typeface="Calibri" pitchFamily="34" charset="0"/>
                <a:ea typeface="Calibri" pitchFamily="34" charset="-122"/>
                <a:cs typeface="Calibri" pitchFamily="34" charset="-120"/>
              </a:rPr>
              <a:t>Not in the notes</a:t>
            </a:r>
            <a:endParaRPr lang="en-US" sz="1400" dirty="0"/>
          </a:p>
        </p:txBody>
      </p:sp>
      <p:sp>
        <p:nvSpPr>
          <p:cNvPr id="16" name="Text 14"/>
          <p:cNvSpPr/>
          <p:nvPr/>
        </p:nvSpPr>
        <p:spPr>
          <a:xfrm>
            <a:off x="4937760" y="1993392"/>
            <a:ext cx="3520440" cy="320040"/>
          </a:xfrm>
          <a:prstGeom prst="rect">
            <a:avLst/>
          </a:prstGeom>
          <a:noFill/>
          <a:ln/>
        </p:spPr>
        <p:txBody>
          <a:bodyPr wrap="square" lIns="0" tIns="0" rIns="0" bIns="0" rtlCol="0" anchor="ctr"/>
          <a:lstStyle/>
          <a:p>
            <a:pPr indent="0" marL="0">
              <a:buNone/>
            </a:pPr>
            <a:r>
              <a:rPr lang="en-US" sz="1400" b="1" i="1" dirty="0">
                <a:solidFill>
                  <a:srgbClr val="17313A"/>
                </a:solidFill>
                <a:latin typeface="Calibri" pitchFamily="34" charset="0"/>
                <a:ea typeface="Calibri" pitchFamily="34" charset="-122"/>
                <a:cs typeface="Calibri" pitchFamily="34" charset="-120"/>
              </a:rPr>
              <a:t>"What is the capital of Syria?"</a:t>
            </a:r>
            <a:endParaRPr lang="en-US" sz="1400" dirty="0"/>
          </a:p>
        </p:txBody>
      </p:sp>
      <p:sp>
        <p:nvSpPr>
          <p:cNvPr id="17" name="Text 15"/>
          <p:cNvSpPr/>
          <p:nvPr/>
        </p:nvSpPr>
        <p:spPr>
          <a:xfrm>
            <a:off x="4937760" y="2377440"/>
            <a:ext cx="3520440" cy="502920"/>
          </a:xfrm>
          <a:prstGeom prst="rect">
            <a:avLst/>
          </a:prstGeom>
          <a:noFill/>
          <a:ln/>
        </p:spPr>
        <p:txBody>
          <a:bodyPr wrap="square" lIns="0" tIns="0" rIns="0" bIns="0" rtlCol="0" anchor="ctr"/>
          <a:lstStyle/>
          <a:p>
            <a:pPr indent="0" marL="0">
              <a:buNone/>
            </a:pPr>
            <a:r>
              <a:rPr lang="en-US" sz="1050" dirty="0">
                <a:solidFill>
                  <a:srgbClr val="5D7178"/>
                </a:solidFill>
                <a:latin typeface="Calibri" pitchFamily="34" charset="0"/>
                <a:ea typeface="Calibri" pitchFamily="34" charset="-122"/>
                <a:cs typeface="Calibri" pitchFamily="34" charset="-120"/>
              </a:rPr>
              <a:t>best match scored 0.382 — below the 0.40 gate</a:t>
            </a:r>
            <a:endParaRPr lang="en-US" sz="1050" dirty="0"/>
          </a:p>
          <a:p>
            <a:pPr indent="0" marL="0">
              <a:buNone/>
            </a:pPr>
            <a:r>
              <a:rPr lang="en-US" sz="1050" dirty="0">
                <a:solidFill>
                  <a:srgbClr val="5D7178"/>
                </a:solidFill>
                <a:latin typeface="Calibri" pitchFamily="34" charset="0"/>
                <a:ea typeface="Calibri" pitchFamily="34" charset="-122"/>
                <a:cs typeface="Calibri" pitchFamily="34" charset="-120"/>
              </a:rPr>
              <a:t>model never called  ·  0.1 seconds</a:t>
            </a:r>
            <a:endParaRPr lang="en-US" sz="1050" dirty="0"/>
          </a:p>
        </p:txBody>
      </p:sp>
      <p:sp>
        <p:nvSpPr>
          <p:cNvPr id="18" name="Shape 16"/>
          <p:cNvSpPr/>
          <p:nvPr/>
        </p:nvSpPr>
        <p:spPr>
          <a:xfrm>
            <a:off x="4937760" y="2971800"/>
            <a:ext cx="3520440" cy="1097280"/>
          </a:xfrm>
          <a:prstGeom prst="roundRect">
            <a:avLst>
              <a:gd name="adj" fmla="val 5000"/>
            </a:avLst>
          </a:prstGeom>
          <a:solidFill>
            <a:srgbClr val="F7EBEA"/>
          </a:solidFill>
          <a:ln/>
        </p:spPr>
      </p:sp>
      <p:sp>
        <p:nvSpPr>
          <p:cNvPr id="19" name="Text 17"/>
          <p:cNvSpPr/>
          <p:nvPr/>
        </p:nvSpPr>
        <p:spPr>
          <a:xfrm>
            <a:off x="5120640" y="2971800"/>
            <a:ext cx="3154680" cy="1097280"/>
          </a:xfrm>
          <a:prstGeom prst="rect">
            <a:avLst/>
          </a:prstGeom>
          <a:noFill/>
          <a:ln/>
        </p:spPr>
        <p:txBody>
          <a:bodyPr wrap="square" lIns="0" tIns="0" rIns="0" bIns="0" rtlCol="0" anchor="ctr"/>
          <a:lstStyle/>
          <a:p>
            <a:pPr indent="0" marL="0">
              <a:buNone/>
            </a:pPr>
            <a:r>
              <a:rPr lang="en-US" sz="1400" dirty="0">
                <a:solidFill>
                  <a:srgbClr val="B5453C"/>
                </a:solidFill>
                <a:latin typeface="Calibri" pitchFamily="34" charset="0"/>
                <a:ea typeface="Calibri" pitchFamily="34" charset="-122"/>
                <a:cs typeface="Calibri" pitchFamily="34" charset="-120"/>
              </a:rPr>
              <a:t>"I don’t have that in your notes."</a:t>
            </a:r>
            <a:endParaRPr lang="en-US" sz="1400" dirty="0"/>
          </a:p>
        </p:txBody>
      </p:sp>
      <p:sp>
        <p:nvSpPr>
          <p:cNvPr id="20" name="Text 18"/>
          <p:cNvSpPr/>
          <p:nvPr/>
        </p:nvSpPr>
        <p:spPr>
          <a:xfrm>
            <a:off x="457200" y="4462272"/>
            <a:ext cx="8229600" cy="320040"/>
          </a:xfrm>
          <a:prstGeom prst="rect">
            <a:avLst/>
          </a:prstGeom>
          <a:noFill/>
          <a:ln/>
        </p:spPr>
        <p:txBody>
          <a:bodyPr wrap="square" lIns="0" tIns="0" rIns="0" bIns="0" rtlCol="0" anchor="ctr"/>
          <a:lstStyle/>
          <a:p>
            <a:pPr algn="ctr" indent="0" marL="0">
              <a:buNone/>
            </a:pPr>
            <a:r>
              <a:rPr lang="en-US" sz="1250" i="1" dirty="0">
                <a:solidFill>
                  <a:srgbClr val="5D7178"/>
                </a:solidFill>
                <a:latin typeface="Calibri" pitchFamily="34" charset="0"/>
                <a:ea typeface="Calibri" pitchFamily="34" charset="-122"/>
                <a:cs typeface="Calibri" pitchFamily="34" charset="-120"/>
              </a:rPr>
              <a:t>The refusal is 33× faster than the answer — because the gate stops it before the model ever runs.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109728"/>
            <a:ext cx="8138160" cy="256032"/>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WHAT ACTUALLY MATTERED</a:t>
            </a:r>
            <a:endParaRPr lang="en-US" sz="1100" dirty="0"/>
          </a:p>
        </p:txBody>
      </p:sp>
      <p:sp>
        <p:nvSpPr>
          <p:cNvPr id="3" name="Text 1"/>
          <p:cNvSpPr/>
          <p:nvPr/>
        </p:nvSpPr>
        <p:spPr>
          <a:xfrm>
            <a:off x="502920" y="347472"/>
            <a:ext cx="8138160" cy="640080"/>
          </a:xfrm>
          <a:prstGeom prst="rect">
            <a:avLst/>
          </a:prstGeom>
          <a:noFill/>
          <a:ln/>
        </p:spPr>
        <p:txBody>
          <a:bodyPr wrap="square" lIns="0" tIns="0" rIns="0" bIns="0" rtlCol="0" anchor="ctr"/>
          <a:lstStyle/>
          <a:p>
            <a:pPr indent="0" marL="0">
              <a:buNone/>
            </a:pPr>
            <a:r>
              <a:rPr lang="en-US" sz="3200" b="1" dirty="0">
                <a:solidFill>
                  <a:srgbClr val="17313A"/>
                </a:solidFill>
                <a:latin typeface="Cambria" pitchFamily="34" charset="0"/>
                <a:ea typeface="Cambria" pitchFamily="34" charset="-122"/>
                <a:cs typeface="Cambria" pitchFamily="34" charset="-120"/>
              </a:rPr>
              <a:t>Three changes that moved the numbers</a:t>
            </a:r>
            <a:endParaRPr lang="en-US" sz="3200" dirty="0"/>
          </a:p>
        </p:txBody>
      </p:sp>
      <p:sp>
        <p:nvSpPr>
          <p:cNvPr id="4" name="Shape 2"/>
          <p:cNvSpPr/>
          <p:nvPr/>
        </p:nvSpPr>
        <p:spPr>
          <a:xfrm>
            <a:off x="457200" y="1298448"/>
            <a:ext cx="2606040" cy="3063240"/>
          </a:xfrm>
          <a:prstGeom prst="roundRect">
            <a:avLst>
              <a:gd name="adj" fmla="val 2105"/>
            </a:avLst>
          </a:prstGeom>
          <a:solidFill>
            <a:srgbClr val="E9F5F4"/>
          </a:solidFill>
          <a:ln/>
        </p:spPr>
      </p:sp>
      <p:sp>
        <p:nvSpPr>
          <p:cNvPr id="5" name="Text 3"/>
          <p:cNvSpPr/>
          <p:nvPr/>
        </p:nvSpPr>
        <p:spPr>
          <a:xfrm>
            <a:off x="548640" y="1481328"/>
            <a:ext cx="2423160" cy="640080"/>
          </a:xfrm>
          <a:prstGeom prst="rect">
            <a:avLst/>
          </a:prstGeom>
          <a:noFill/>
          <a:ln/>
        </p:spPr>
        <p:txBody>
          <a:bodyPr wrap="square" lIns="0" tIns="0" rIns="0" bIns="0" rtlCol="0" anchor="ctr"/>
          <a:lstStyle/>
          <a:p>
            <a:pPr algn="ctr" indent="0" marL="0">
              <a:buNone/>
            </a:pPr>
            <a:r>
              <a:rPr lang="en-US" sz="3000" b="1" dirty="0">
                <a:solidFill>
                  <a:srgbClr val="028090"/>
                </a:solidFill>
                <a:latin typeface="Cambria" pitchFamily="34" charset="0"/>
                <a:ea typeface="Cambria" pitchFamily="34" charset="-122"/>
                <a:cs typeface="Cambria" pitchFamily="34" charset="-120"/>
              </a:rPr>
              <a:t>3 → 41</a:t>
            </a:r>
            <a:endParaRPr lang="en-US" sz="3000" dirty="0"/>
          </a:p>
        </p:txBody>
      </p:sp>
      <p:sp>
        <p:nvSpPr>
          <p:cNvPr id="6" name="Text 4"/>
          <p:cNvSpPr/>
          <p:nvPr/>
        </p:nvSpPr>
        <p:spPr>
          <a:xfrm>
            <a:off x="594360" y="2103120"/>
            <a:ext cx="2331720" cy="274320"/>
          </a:xfrm>
          <a:prstGeom prst="rect">
            <a:avLst/>
          </a:prstGeom>
          <a:noFill/>
          <a:ln/>
        </p:spPr>
        <p:txBody>
          <a:bodyPr wrap="square" lIns="0" tIns="0" rIns="0" bIns="0" rtlCol="0" anchor="ctr"/>
          <a:lstStyle/>
          <a:p>
            <a:pPr algn="ctr" indent="0" marL="0">
              <a:buNone/>
            </a:pPr>
            <a:r>
              <a:rPr lang="en-US" sz="1100" b="1" dirty="0">
                <a:solidFill>
                  <a:srgbClr val="5D7178"/>
                </a:solidFill>
                <a:latin typeface="Calibri" pitchFamily="34" charset="0"/>
                <a:ea typeface="Calibri" pitchFamily="34" charset="-122"/>
                <a:cs typeface="Calibri" pitchFamily="34" charset="-120"/>
              </a:rPr>
              <a:t>usable chunks from one PDF</a:t>
            </a:r>
            <a:endParaRPr lang="en-US" sz="1100" dirty="0"/>
          </a:p>
        </p:txBody>
      </p:sp>
      <p:sp>
        <p:nvSpPr>
          <p:cNvPr id="7" name="Text 5"/>
          <p:cNvSpPr/>
          <p:nvPr/>
        </p:nvSpPr>
        <p:spPr>
          <a:xfrm>
            <a:off x="658368" y="2487168"/>
            <a:ext cx="2203704" cy="1737360"/>
          </a:xfrm>
          <a:prstGeom prst="rect">
            <a:avLst/>
          </a:prstGeom>
          <a:noFill/>
          <a:ln/>
        </p:spPr>
        <p:txBody>
          <a:bodyPr wrap="square" lIns="0" tIns="0" rIns="0" bIns="0" rtlCol="0" anchor="ctr"/>
          <a:lstStyle/>
          <a:p>
            <a:pPr indent="0" marL="0">
              <a:buNone/>
            </a:pPr>
            <a:r>
              <a:rPr lang="en-US" sz="1200" dirty="0">
                <a:solidFill>
                  <a:srgbClr val="17313A"/>
                </a:solidFill>
                <a:latin typeface="Calibri" pitchFamily="34" charset="0"/>
                <a:ea typeface="Calibri" pitchFamily="34" charset="-122"/>
                <a:cs typeface="Calibri" pitchFamily="34" charset="-120"/>
              </a:rPr>
              <a:t>Sentence-aware splitting. My first version made three giant chunks and retrieval was useless. This one change was the single biggest lever on answer quality.</a:t>
            </a:r>
            <a:endParaRPr lang="en-US" sz="1200" dirty="0"/>
          </a:p>
        </p:txBody>
      </p:sp>
      <p:sp>
        <p:nvSpPr>
          <p:cNvPr id="8" name="Shape 6"/>
          <p:cNvSpPr/>
          <p:nvPr/>
        </p:nvSpPr>
        <p:spPr>
          <a:xfrm>
            <a:off x="3246120" y="1298448"/>
            <a:ext cx="2606040" cy="3063240"/>
          </a:xfrm>
          <a:prstGeom prst="roundRect">
            <a:avLst>
              <a:gd name="adj" fmla="val 2105"/>
            </a:avLst>
          </a:prstGeom>
          <a:solidFill>
            <a:srgbClr val="028090"/>
          </a:solidFill>
          <a:ln/>
        </p:spPr>
      </p:sp>
      <p:sp>
        <p:nvSpPr>
          <p:cNvPr id="9" name="Text 7"/>
          <p:cNvSpPr/>
          <p:nvPr/>
        </p:nvSpPr>
        <p:spPr>
          <a:xfrm>
            <a:off x="3337560" y="1481328"/>
            <a:ext cx="2423160" cy="640080"/>
          </a:xfrm>
          <a:prstGeom prst="rect">
            <a:avLst/>
          </a:prstGeom>
          <a:noFill/>
          <a:ln/>
        </p:spPr>
        <p:txBody>
          <a:bodyPr wrap="square" lIns="0" tIns="0" rIns="0" bIns="0" rtlCol="0" anchor="ctr"/>
          <a:lstStyle/>
          <a:p>
            <a:pPr algn="ctr" indent="0" marL="0">
              <a:buNone/>
            </a:pPr>
            <a:r>
              <a:rPr lang="en-US" sz="2300" b="1" dirty="0">
                <a:solidFill>
                  <a:srgbClr val="FFFFFF"/>
                </a:solidFill>
                <a:latin typeface="Cambria" pitchFamily="34" charset="0"/>
                <a:ea typeface="Cambria" pitchFamily="34" charset="-122"/>
                <a:cs typeface="Cambria" pitchFamily="34" charset="-120"/>
              </a:rPr>
              <a:t>0.5B → 3.8B</a:t>
            </a:r>
            <a:endParaRPr lang="en-US" sz="2300" dirty="0"/>
          </a:p>
        </p:txBody>
      </p:sp>
      <p:sp>
        <p:nvSpPr>
          <p:cNvPr id="10" name="Text 8"/>
          <p:cNvSpPr/>
          <p:nvPr/>
        </p:nvSpPr>
        <p:spPr>
          <a:xfrm>
            <a:off x="3383280" y="2103120"/>
            <a:ext cx="2331720" cy="274320"/>
          </a:xfrm>
          <a:prstGeom prst="rect">
            <a:avLst/>
          </a:prstGeom>
          <a:noFill/>
          <a:ln/>
        </p:spPr>
        <p:txBody>
          <a:bodyPr wrap="square" lIns="0" tIns="0" rIns="0" bIns="0" rtlCol="0" anchor="ctr"/>
          <a:lstStyle/>
          <a:p>
            <a:pPr algn="ctr" indent="0" marL="0">
              <a:buNone/>
            </a:pPr>
            <a:r>
              <a:rPr lang="en-US" sz="1100" b="1" dirty="0">
                <a:solidFill>
                  <a:srgbClr val="BFE9E4"/>
                </a:solidFill>
                <a:latin typeface="Calibri" pitchFamily="34" charset="0"/>
                <a:ea typeface="Calibri" pitchFamily="34" charset="-122"/>
                <a:cs typeface="Calibri" pitchFamily="34" charset="-120"/>
              </a:rPr>
              <a:t>generator model size</a:t>
            </a:r>
            <a:endParaRPr lang="en-US" sz="1100" dirty="0"/>
          </a:p>
        </p:txBody>
      </p:sp>
      <p:sp>
        <p:nvSpPr>
          <p:cNvPr id="11" name="Text 9"/>
          <p:cNvSpPr/>
          <p:nvPr/>
        </p:nvSpPr>
        <p:spPr>
          <a:xfrm>
            <a:off x="3447288" y="2487168"/>
            <a:ext cx="2203704" cy="17373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The tiny model happily answered "capital of France" from its own memory. phi-3.5-mini follows the "use only the context" rule. Grounding beat speed.</a:t>
            </a:r>
            <a:endParaRPr lang="en-US" sz="1200" dirty="0"/>
          </a:p>
        </p:txBody>
      </p:sp>
      <p:sp>
        <p:nvSpPr>
          <p:cNvPr id="12" name="Shape 10"/>
          <p:cNvSpPr/>
          <p:nvPr/>
        </p:nvSpPr>
        <p:spPr>
          <a:xfrm>
            <a:off x="6035040" y="1298448"/>
            <a:ext cx="2606040" cy="3063240"/>
          </a:xfrm>
          <a:prstGeom prst="roundRect">
            <a:avLst>
              <a:gd name="adj" fmla="val 2105"/>
            </a:avLst>
          </a:prstGeom>
          <a:solidFill>
            <a:srgbClr val="E9F5F4"/>
          </a:solidFill>
          <a:ln/>
        </p:spPr>
      </p:sp>
      <p:sp>
        <p:nvSpPr>
          <p:cNvPr id="13" name="Text 11"/>
          <p:cNvSpPr/>
          <p:nvPr/>
        </p:nvSpPr>
        <p:spPr>
          <a:xfrm>
            <a:off x="6126480" y="1481328"/>
            <a:ext cx="2423160" cy="640080"/>
          </a:xfrm>
          <a:prstGeom prst="rect">
            <a:avLst/>
          </a:prstGeom>
          <a:noFill/>
          <a:ln/>
        </p:spPr>
        <p:txBody>
          <a:bodyPr wrap="square" lIns="0" tIns="0" rIns="0" bIns="0" rtlCol="0" anchor="ctr"/>
          <a:lstStyle/>
          <a:p>
            <a:pPr algn="ctr" indent="0" marL="0">
              <a:buNone/>
            </a:pPr>
            <a:r>
              <a:rPr lang="en-US" sz="2300" b="1" dirty="0">
                <a:solidFill>
                  <a:srgbClr val="028090"/>
                </a:solidFill>
                <a:latin typeface="Cambria" pitchFamily="34" charset="0"/>
                <a:ea typeface="Cambria" pitchFamily="34" charset="-122"/>
                <a:cs typeface="Cambria" pitchFamily="34" charset="-120"/>
              </a:rPr>
              <a:t>4/11 → 11/11</a:t>
            </a:r>
            <a:endParaRPr lang="en-US" sz="2300" dirty="0"/>
          </a:p>
        </p:txBody>
      </p:sp>
      <p:sp>
        <p:nvSpPr>
          <p:cNvPr id="14" name="Text 12"/>
          <p:cNvSpPr/>
          <p:nvPr/>
        </p:nvSpPr>
        <p:spPr>
          <a:xfrm>
            <a:off x="6172200" y="2103120"/>
            <a:ext cx="2331720" cy="274320"/>
          </a:xfrm>
          <a:prstGeom prst="rect">
            <a:avLst/>
          </a:prstGeom>
          <a:noFill/>
          <a:ln/>
        </p:spPr>
        <p:txBody>
          <a:bodyPr wrap="square" lIns="0" tIns="0" rIns="0" bIns="0" rtlCol="0" anchor="ctr"/>
          <a:lstStyle/>
          <a:p>
            <a:pPr algn="ctr" indent="0" marL="0">
              <a:buNone/>
            </a:pPr>
            <a:r>
              <a:rPr lang="en-US" sz="1100" b="1" dirty="0">
                <a:solidFill>
                  <a:srgbClr val="5D7178"/>
                </a:solidFill>
                <a:latin typeface="Calibri" pitchFamily="34" charset="0"/>
                <a:ea typeface="Calibri" pitchFamily="34" charset="-122"/>
                <a:cs typeface="Calibri" pitchFamily="34" charset="-120"/>
              </a:rPr>
              <a:t>answers citing the right file</a:t>
            </a:r>
            <a:endParaRPr lang="en-US" sz="1100" dirty="0"/>
          </a:p>
        </p:txBody>
      </p:sp>
      <p:sp>
        <p:nvSpPr>
          <p:cNvPr id="15" name="Text 13"/>
          <p:cNvSpPr/>
          <p:nvPr/>
        </p:nvSpPr>
        <p:spPr>
          <a:xfrm>
            <a:off x="6236208" y="2487168"/>
            <a:ext cx="2203704" cy="1737360"/>
          </a:xfrm>
          <a:prstGeom prst="rect">
            <a:avLst/>
          </a:prstGeom>
          <a:noFill/>
          <a:ln/>
        </p:spPr>
        <p:txBody>
          <a:bodyPr wrap="square" lIns="0" tIns="0" rIns="0" bIns="0" rtlCol="0" anchor="ctr"/>
          <a:lstStyle/>
          <a:p>
            <a:pPr indent="0" marL="0">
              <a:buNone/>
            </a:pPr>
            <a:r>
              <a:rPr lang="en-US" sz="1200" dirty="0">
                <a:solidFill>
                  <a:srgbClr val="17313A"/>
                </a:solidFill>
                <a:latin typeface="Calibri" pitchFamily="34" charset="0"/>
                <a:ea typeface="Calibri" pitchFamily="34" charset="-122"/>
                <a:cs typeface="Calibri" pitchFamily="34" charset="-120"/>
              </a:rPr>
              <a:t>I stopped asking the model to write filenames. It marks passages [1][3]; my code maps those to files. Attribution became the program’s job, not the model’s.</a:t>
            </a:r>
            <a:endParaRPr lang="en-US" sz="1200" dirty="0"/>
          </a:p>
        </p:txBody>
      </p:sp>
      <p:sp>
        <p:nvSpPr>
          <p:cNvPr id="16" name="Text 14"/>
          <p:cNvSpPr/>
          <p:nvPr/>
        </p:nvSpPr>
        <p:spPr>
          <a:xfrm>
            <a:off x="457200" y="4480560"/>
            <a:ext cx="8229600" cy="320040"/>
          </a:xfrm>
          <a:prstGeom prst="rect">
            <a:avLst/>
          </a:prstGeom>
          <a:noFill/>
          <a:ln/>
        </p:spPr>
        <p:txBody>
          <a:bodyPr wrap="square" lIns="0" tIns="0" rIns="0" bIns="0" rtlCol="0" anchor="ctr"/>
          <a:lstStyle/>
          <a:p>
            <a:pPr algn="ctr" indent="0" marL="0">
              <a:buNone/>
            </a:pPr>
            <a:r>
              <a:rPr lang="en-US" sz="1250" i="1" dirty="0">
                <a:solidFill>
                  <a:srgbClr val="5D7178"/>
                </a:solidFill>
                <a:latin typeface="Calibri" pitchFamily="34" charset="0"/>
                <a:ea typeface="Calibri" pitchFamily="34" charset="-122"/>
                <a:cs typeface="Calibri" pitchFamily="34" charset="-120"/>
              </a:rPr>
              <a:t>None of these were about choosing a better model. All three were about the data and the plumbing around it.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109728"/>
            <a:ext cx="8138160" cy="256032"/>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WHAT I GOT WRONG</a:t>
            </a:r>
            <a:endParaRPr lang="en-US" sz="1100" dirty="0"/>
          </a:p>
        </p:txBody>
      </p:sp>
      <p:sp>
        <p:nvSpPr>
          <p:cNvPr id="3" name="Text 1"/>
          <p:cNvSpPr/>
          <p:nvPr/>
        </p:nvSpPr>
        <p:spPr>
          <a:xfrm>
            <a:off x="502920" y="347472"/>
            <a:ext cx="8138160" cy="640080"/>
          </a:xfrm>
          <a:prstGeom prst="rect">
            <a:avLst/>
          </a:prstGeom>
          <a:noFill/>
          <a:ln/>
        </p:spPr>
        <p:txBody>
          <a:bodyPr wrap="square" lIns="0" tIns="0" rIns="0" bIns="0" rtlCol="0" anchor="ctr"/>
          <a:lstStyle/>
          <a:p>
            <a:pPr indent="0" marL="0">
              <a:buNone/>
            </a:pPr>
            <a:r>
              <a:rPr lang="en-US" sz="3200" b="1" dirty="0">
                <a:solidFill>
                  <a:srgbClr val="17313A"/>
                </a:solidFill>
                <a:latin typeface="Cambria" pitchFamily="34" charset="0"/>
                <a:ea typeface="Cambria" pitchFamily="34" charset="-122"/>
                <a:cs typeface="Cambria" pitchFamily="34" charset="-120"/>
              </a:rPr>
              <a:t>The threshold belongs to the corpus</a:t>
            </a:r>
            <a:endParaRPr lang="en-US" sz="3200" dirty="0"/>
          </a:p>
        </p:txBody>
      </p:sp>
      <p:graphicFrame>
        <p:nvGraphicFramePr>
          <p:cNvPr id="4" name="Chart 0" descr=""/>
          <p:cNvGraphicFramePr/>
          <p:nvPr/>
        </p:nvGraphicFramePr>
        <p:xfrm>
          <a:off x="457200" y="1325880"/>
          <a:ext cx="5029200" cy="28346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669280" y="1325880"/>
            <a:ext cx="3017520" cy="685800"/>
          </a:xfrm>
          <a:prstGeom prst="rect">
            <a:avLst/>
          </a:prstGeom>
          <a:noFill/>
          <a:ln/>
        </p:spPr>
        <p:txBody>
          <a:bodyPr wrap="square" lIns="0" tIns="0" rIns="0" bIns="0" rtlCol="0" anchor="ctr"/>
          <a:lstStyle/>
          <a:p>
            <a:pPr indent="0" marL="0">
              <a:buNone/>
            </a:pPr>
            <a:r>
              <a:rPr lang="en-US" sz="1150" i="1" dirty="0">
                <a:solidFill>
                  <a:srgbClr val="5D7178"/>
                </a:solidFill>
                <a:latin typeface="Calibri" pitchFamily="34" charset="0"/>
                <a:ea typeface="Calibri" pitchFamily="34" charset="-122"/>
                <a:cs typeface="Calibri" pitchFamily="34" charset="-120"/>
              </a:rPr>
              <a:t>My first evaluation concluded: "score ranges overlap, so no threshold separates good questions from junk."</a:t>
            </a:r>
            <a:endParaRPr lang="en-US" sz="1150" dirty="0"/>
          </a:p>
        </p:txBody>
      </p:sp>
      <p:sp>
        <p:nvSpPr>
          <p:cNvPr id="6" name="Shape 3"/>
          <p:cNvSpPr/>
          <p:nvPr/>
        </p:nvSpPr>
        <p:spPr>
          <a:xfrm>
            <a:off x="5669280" y="2103120"/>
            <a:ext cx="3017520" cy="1234440"/>
          </a:xfrm>
          <a:prstGeom prst="roundRect">
            <a:avLst>
              <a:gd name="adj" fmla="val 4444"/>
            </a:avLst>
          </a:prstGeom>
          <a:solidFill>
            <a:srgbClr val="E9F5F4"/>
          </a:solidFill>
          <a:ln/>
        </p:spPr>
      </p:sp>
      <p:sp>
        <p:nvSpPr>
          <p:cNvPr id="7" name="Text 4"/>
          <p:cNvSpPr/>
          <p:nvPr/>
        </p:nvSpPr>
        <p:spPr>
          <a:xfrm>
            <a:off x="5870448" y="2103120"/>
            <a:ext cx="2651760" cy="1234440"/>
          </a:xfrm>
          <a:prstGeom prst="rect">
            <a:avLst/>
          </a:prstGeom>
          <a:noFill/>
          <a:ln/>
        </p:spPr>
        <p:txBody>
          <a:bodyPr wrap="square" lIns="0" tIns="0" rIns="0" bIns="0" rtlCol="0" anchor="ctr"/>
          <a:lstStyle/>
          <a:p>
            <a:pPr indent="0" marL="0">
              <a:buNone/>
            </a:pPr>
            <a:r>
              <a:rPr lang="en-US" sz="1000" b="1" dirty="0">
                <a:solidFill>
                  <a:srgbClr val="5D7178"/>
                </a:solidFill>
                <a:latin typeface="Calibri" pitchFamily="34" charset="0"/>
                <a:ea typeface="Calibri" pitchFamily="34" charset="-122"/>
                <a:cs typeface="Calibri" pitchFamily="34" charset="-120"/>
              </a:rPr>
              <a:t>Corpus A
</a:t>
            </a:r>
            <a:endParaRPr lang="en-US" sz="1000" dirty="0"/>
          </a:p>
          <a:p>
            <a:pPr indent="0" marL="0">
              <a:buNone/>
            </a:pPr>
            <a:r>
              <a:rPr lang="en-US" sz="1100" dirty="0">
                <a:solidFill>
                  <a:srgbClr val="B5453C"/>
                </a:solidFill>
                <a:latin typeface="Calibri" pitchFamily="34" charset="0"/>
                <a:ea typeface="Calibri" pitchFamily="34" charset="-122"/>
                <a:cs typeface="Calibri" pitchFamily="34" charset="-120"/>
              </a:rPr>
              <a:t>0.42–0.74  vs  0.27–0.49   overlap
</a:t>
            </a:r>
            <a:endParaRPr lang="en-US" sz="1000" dirty="0"/>
          </a:p>
          <a:p>
            <a:pPr indent="0" marL="0">
              <a:buNone/>
            </a:pPr>
            <a:r>
              <a:rPr lang="en-US" sz="1000" b="1" dirty="0">
                <a:solidFill>
                  <a:srgbClr val="5D7178"/>
                </a:solidFill>
                <a:latin typeface="Calibri" pitchFamily="34" charset="0"/>
                <a:ea typeface="Calibri" pitchFamily="34" charset="-122"/>
                <a:cs typeface="Calibri" pitchFamily="34" charset="-120"/>
              </a:rPr>
              <a:t>Corpus B
</a:t>
            </a:r>
            <a:endParaRPr lang="en-US" sz="1000" dirty="0"/>
          </a:p>
          <a:p>
            <a:pPr indent="0" marL="0">
              <a:buNone/>
            </a:pPr>
            <a:r>
              <a:rPr lang="en-US" sz="1100" dirty="0">
                <a:solidFill>
                  <a:srgbClr val="028090"/>
                </a:solidFill>
                <a:latin typeface="Calibri" pitchFamily="34" charset="0"/>
                <a:ea typeface="Calibri" pitchFamily="34" charset="-122"/>
                <a:cs typeface="Calibri" pitchFamily="34" charset="-120"/>
              </a:rPr>
              <a:t>0.57–0.76  vs  0.21–0.43   clean gap</a:t>
            </a:r>
            <a:endParaRPr lang="en-US" sz="1000" dirty="0"/>
          </a:p>
        </p:txBody>
      </p:sp>
      <p:sp>
        <p:nvSpPr>
          <p:cNvPr id="8" name="Shape 5"/>
          <p:cNvSpPr/>
          <p:nvPr/>
        </p:nvSpPr>
        <p:spPr>
          <a:xfrm>
            <a:off x="5669280" y="3456432"/>
            <a:ext cx="3017520" cy="868680"/>
          </a:xfrm>
          <a:prstGeom prst="roundRect">
            <a:avLst>
              <a:gd name="adj" fmla="val 6316"/>
            </a:avLst>
          </a:prstGeom>
          <a:solidFill>
            <a:srgbClr val="028090"/>
          </a:solidFill>
          <a:ln/>
        </p:spPr>
      </p:sp>
      <p:sp>
        <p:nvSpPr>
          <p:cNvPr id="9" name="Text 6"/>
          <p:cNvSpPr/>
          <p:nvPr/>
        </p:nvSpPr>
        <p:spPr>
          <a:xfrm>
            <a:off x="5870448" y="3456432"/>
            <a:ext cx="2651760" cy="8686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 relevance threshold is not a property of the system. It is a property of the documents.</a:t>
            </a:r>
            <a:endParaRPr lang="en-US" sz="1200" dirty="0"/>
          </a:p>
        </p:txBody>
      </p:sp>
      <p:sp>
        <p:nvSpPr>
          <p:cNvPr id="10" name="Text 7"/>
          <p:cNvSpPr/>
          <p:nvPr/>
        </p:nvSpPr>
        <p:spPr>
          <a:xfrm>
            <a:off x="457200" y="4434840"/>
            <a:ext cx="8229600" cy="320040"/>
          </a:xfrm>
          <a:prstGeom prst="rect">
            <a:avLst/>
          </a:prstGeom>
          <a:noFill/>
          <a:ln/>
        </p:spPr>
        <p:txBody>
          <a:bodyPr wrap="square" lIns="0" tIns="0" rIns="0" bIns="0" rtlCol="0" anchor="ctr"/>
          <a:lstStyle/>
          <a:p>
            <a:pPr algn="ctr" indent="0" marL="0">
              <a:buNone/>
            </a:pPr>
            <a:r>
              <a:rPr lang="en-US" sz="1200" i="1" dirty="0">
                <a:solidFill>
                  <a:srgbClr val="5D7178"/>
                </a:solidFill>
                <a:latin typeface="Calibri" pitchFamily="34" charset="0"/>
                <a:ea typeface="Calibri" pitchFamily="34" charset="-122"/>
                <a:cs typeface="Calibri" pitchFamily="34" charset="-120"/>
              </a:rPr>
              <a:t>The hallucination did not need a fix. It needed a different corpus — and a threshold that is calibrated, not hardcoded.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109728"/>
            <a:ext cx="8138160" cy="256032"/>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HOW I GOT THERE</a:t>
            </a:r>
            <a:endParaRPr lang="en-US" sz="1100" dirty="0"/>
          </a:p>
        </p:txBody>
      </p:sp>
      <p:sp>
        <p:nvSpPr>
          <p:cNvPr id="3" name="Text 1"/>
          <p:cNvSpPr/>
          <p:nvPr/>
        </p:nvSpPr>
        <p:spPr>
          <a:xfrm>
            <a:off x="502920" y="347472"/>
            <a:ext cx="8138160" cy="640080"/>
          </a:xfrm>
          <a:prstGeom prst="rect">
            <a:avLst/>
          </a:prstGeom>
          <a:noFill/>
          <a:ln/>
        </p:spPr>
        <p:txBody>
          <a:bodyPr wrap="square" lIns="0" tIns="0" rIns="0" bIns="0" rtlCol="0" anchor="ctr"/>
          <a:lstStyle/>
          <a:p>
            <a:pPr indent="0" marL="0">
              <a:buNone/>
            </a:pPr>
            <a:r>
              <a:rPr lang="en-US" sz="3200" b="1" dirty="0">
                <a:solidFill>
                  <a:srgbClr val="17313A"/>
                </a:solidFill>
                <a:latin typeface="Cambria" pitchFamily="34" charset="0"/>
                <a:ea typeface="Cambria" pitchFamily="34" charset="-122"/>
                <a:cs typeface="Cambria" pitchFamily="34" charset="-120"/>
              </a:rPr>
              <a:t>Four experiments, one trade-off</a:t>
            </a:r>
            <a:endParaRPr lang="en-US" sz="3200" dirty="0"/>
          </a:p>
        </p:txBody>
      </p:sp>
      <p:sp>
        <p:nvSpPr>
          <p:cNvPr id="4" name="Text 2"/>
          <p:cNvSpPr/>
          <p:nvPr/>
        </p:nvSpPr>
        <p:spPr>
          <a:xfrm>
            <a:off x="457200" y="1298448"/>
            <a:ext cx="2651760" cy="457200"/>
          </a:xfrm>
          <a:prstGeom prst="rect">
            <a:avLst/>
          </a:prstGeom>
          <a:noFill/>
          <a:ln/>
        </p:spPr>
        <p:txBody>
          <a:bodyPr wrap="square" lIns="0" tIns="0" rIns="0" bIns="0" rtlCol="0" anchor="ctr"/>
          <a:lstStyle/>
          <a:p>
            <a:pPr indent="0" marL="0">
              <a:buNone/>
            </a:pPr>
            <a:r>
              <a:rPr lang="en-US" sz="1100" b="1" dirty="0">
                <a:solidFill>
                  <a:srgbClr val="5D7178"/>
                </a:solidFill>
                <a:latin typeface="Calibri" pitchFamily="34" charset="0"/>
                <a:ea typeface="Calibri" pitchFamily="34" charset="-122"/>
                <a:cs typeface="Calibri" pitchFamily="34" charset="-120"/>
              </a:rPr>
              <a:t>Change</a:t>
            </a:r>
            <a:endParaRPr lang="en-US" sz="1100" dirty="0"/>
          </a:p>
        </p:txBody>
      </p:sp>
      <p:sp>
        <p:nvSpPr>
          <p:cNvPr id="5" name="Text 3"/>
          <p:cNvSpPr/>
          <p:nvPr/>
        </p:nvSpPr>
        <p:spPr>
          <a:xfrm>
            <a:off x="2587752" y="1243584"/>
            <a:ext cx="1316736" cy="548640"/>
          </a:xfrm>
          <a:prstGeom prst="rect">
            <a:avLst/>
          </a:prstGeom>
          <a:noFill/>
          <a:ln/>
        </p:spPr>
        <p:txBody>
          <a:bodyPr wrap="square" lIns="0" tIns="0" rIns="0" bIns="0" rtlCol="0" anchor="ctr"/>
          <a:lstStyle/>
          <a:p>
            <a:pPr algn="ctr" indent="0" marL="0">
              <a:buNone/>
            </a:pPr>
            <a:r>
              <a:rPr lang="en-US" sz="1100" b="1" dirty="0">
                <a:solidFill>
                  <a:srgbClr val="5D7178"/>
                </a:solidFill>
                <a:latin typeface="Calibri" pitchFamily="34" charset="0"/>
                <a:ea typeface="Calibri" pitchFamily="34" charset="-122"/>
                <a:cs typeface="Calibri" pitchFamily="34" charset="-120"/>
              </a:rPr>
              <a:t>top-3</a:t>
            </a:r>
            <a:endParaRPr lang="en-US" sz="1100" dirty="0"/>
          </a:p>
        </p:txBody>
      </p:sp>
      <p:sp>
        <p:nvSpPr>
          <p:cNvPr id="6" name="Text 4"/>
          <p:cNvSpPr/>
          <p:nvPr/>
        </p:nvSpPr>
        <p:spPr>
          <a:xfrm>
            <a:off x="4050792" y="1243584"/>
            <a:ext cx="1316736" cy="548640"/>
          </a:xfrm>
          <a:prstGeom prst="rect">
            <a:avLst/>
          </a:prstGeom>
          <a:noFill/>
          <a:ln/>
        </p:spPr>
        <p:txBody>
          <a:bodyPr wrap="square" lIns="0" tIns="0" rIns="0" bIns="0" rtlCol="0" anchor="ctr"/>
          <a:lstStyle/>
          <a:p>
            <a:pPr algn="ctr" indent="0" marL="0">
              <a:buNone/>
            </a:pPr>
            <a:r>
              <a:rPr lang="en-US" sz="1100" b="1" dirty="0">
                <a:solidFill>
                  <a:srgbClr val="5D7178"/>
                </a:solidFill>
                <a:latin typeface="Calibri" pitchFamily="34" charset="0"/>
                <a:ea typeface="Calibri" pitchFamily="34" charset="-122"/>
                <a:cs typeface="Calibri" pitchFamily="34" charset="-120"/>
              </a:rPr>
              <a:t>top-5</a:t>
            </a:r>
            <a:endParaRPr lang="en-US" sz="1100" dirty="0"/>
          </a:p>
        </p:txBody>
      </p:sp>
      <p:sp>
        <p:nvSpPr>
          <p:cNvPr id="7" name="Text 5"/>
          <p:cNvSpPr/>
          <p:nvPr/>
        </p:nvSpPr>
        <p:spPr>
          <a:xfrm>
            <a:off x="5513832" y="1243584"/>
            <a:ext cx="1316736" cy="548640"/>
          </a:xfrm>
          <a:prstGeom prst="rect">
            <a:avLst/>
          </a:prstGeom>
          <a:noFill/>
          <a:ln/>
        </p:spPr>
        <p:txBody>
          <a:bodyPr wrap="square" lIns="0" tIns="0" rIns="0" bIns="0" rtlCol="0" anchor="ctr"/>
          <a:lstStyle/>
          <a:p>
            <a:pPr algn="ctr" indent="0" marL="0">
              <a:buNone/>
            </a:pPr>
            <a:r>
              <a:rPr lang="en-US" sz="1100" b="1" dirty="0">
                <a:solidFill>
                  <a:srgbClr val="028090"/>
                </a:solidFill>
                <a:latin typeface="Calibri" pitchFamily="34" charset="0"/>
                <a:ea typeface="Calibri" pitchFamily="34" charset="-122"/>
                <a:cs typeface="Calibri" pitchFamily="34" charset="-120"/>
              </a:rPr>
              <a:t>+ code</a:t>
            </a:r>
            <a:endParaRPr lang="en-US" sz="1100" dirty="0"/>
          </a:p>
          <a:p>
            <a:pPr algn="ctr" indent="0" marL="0">
              <a:buNone/>
            </a:pPr>
            <a:r>
              <a:rPr lang="en-US" sz="1100" b="1" dirty="0">
                <a:solidFill>
                  <a:srgbClr val="028090"/>
                </a:solidFill>
                <a:latin typeface="Calibri" pitchFamily="34" charset="0"/>
                <a:ea typeface="Calibri" pitchFamily="34" charset="-122"/>
                <a:cs typeface="Calibri" pitchFamily="34" charset="-120"/>
              </a:rPr>
              <a:t>citations</a:t>
            </a:r>
            <a:endParaRPr lang="en-US" sz="1100" dirty="0"/>
          </a:p>
        </p:txBody>
      </p:sp>
      <p:sp>
        <p:nvSpPr>
          <p:cNvPr id="8" name="Text 6"/>
          <p:cNvSpPr/>
          <p:nvPr/>
        </p:nvSpPr>
        <p:spPr>
          <a:xfrm>
            <a:off x="6976872" y="1243584"/>
            <a:ext cx="1316736" cy="548640"/>
          </a:xfrm>
          <a:prstGeom prst="rect">
            <a:avLst/>
          </a:prstGeom>
          <a:noFill/>
          <a:ln/>
        </p:spPr>
        <p:txBody>
          <a:bodyPr wrap="square" lIns="0" tIns="0" rIns="0" bIns="0" rtlCol="0" anchor="ctr"/>
          <a:lstStyle/>
          <a:p>
            <a:pPr algn="ctr" indent="0" marL="0">
              <a:buNone/>
            </a:pPr>
            <a:r>
              <a:rPr lang="en-US" sz="1100" b="1" dirty="0">
                <a:solidFill>
                  <a:srgbClr val="028090"/>
                </a:solidFill>
                <a:latin typeface="Calibri" pitchFamily="34" charset="0"/>
                <a:ea typeface="Calibri" pitchFamily="34" charset="-122"/>
                <a:cs typeface="Calibri" pitchFamily="34" charset="-120"/>
              </a:rPr>
              <a:t>+ tighter</a:t>
            </a:r>
            <a:endParaRPr lang="en-US" sz="1100" dirty="0"/>
          </a:p>
          <a:p>
            <a:pPr algn="ctr" indent="0" marL="0">
              <a:buNone/>
            </a:pPr>
            <a:r>
              <a:rPr lang="en-US" sz="1100" b="1" dirty="0">
                <a:solidFill>
                  <a:srgbClr val="028090"/>
                </a:solidFill>
                <a:latin typeface="Calibri" pitchFamily="34" charset="0"/>
                <a:ea typeface="Calibri" pitchFamily="34" charset="-122"/>
                <a:cs typeface="Calibri" pitchFamily="34" charset="-120"/>
              </a:rPr>
              <a:t>prompt</a:t>
            </a:r>
            <a:endParaRPr lang="en-US" sz="1100" dirty="0"/>
          </a:p>
        </p:txBody>
      </p:sp>
      <p:sp>
        <p:nvSpPr>
          <p:cNvPr id="9" name="Shape 7"/>
          <p:cNvSpPr/>
          <p:nvPr/>
        </p:nvSpPr>
        <p:spPr>
          <a:xfrm>
            <a:off x="457200" y="1847088"/>
            <a:ext cx="8229600" cy="548640"/>
          </a:xfrm>
          <a:prstGeom prst="roundRect">
            <a:avLst>
              <a:gd name="adj" fmla="val 10000"/>
            </a:avLst>
          </a:prstGeom>
          <a:solidFill>
            <a:srgbClr val="E9F5F4"/>
          </a:solidFill>
          <a:ln/>
        </p:spPr>
      </p:sp>
      <p:sp>
        <p:nvSpPr>
          <p:cNvPr id="10" name="Text 8"/>
          <p:cNvSpPr/>
          <p:nvPr/>
        </p:nvSpPr>
        <p:spPr>
          <a:xfrm>
            <a:off x="658368" y="1883664"/>
            <a:ext cx="2468880" cy="475488"/>
          </a:xfrm>
          <a:prstGeom prst="rect">
            <a:avLst/>
          </a:prstGeom>
          <a:noFill/>
          <a:ln/>
        </p:spPr>
        <p:txBody>
          <a:bodyPr wrap="square" lIns="0" tIns="0" rIns="0" bIns="0" rtlCol="0" anchor="ctr"/>
          <a:lstStyle/>
          <a:p>
            <a:pPr indent="0" marL="0">
              <a:buNone/>
            </a:pPr>
            <a:r>
              <a:rPr lang="en-US" sz="1200" dirty="0">
                <a:solidFill>
                  <a:srgbClr val="17313A"/>
                </a:solidFill>
                <a:latin typeface="Calibri" pitchFamily="34" charset="0"/>
                <a:ea typeface="Calibri" pitchFamily="34" charset="-122"/>
                <a:cs typeface="Calibri" pitchFamily="34" charset="-120"/>
              </a:rPr>
              <a:t>Multi-hop question</a:t>
            </a:r>
            <a:endParaRPr lang="en-US" sz="1200" dirty="0"/>
          </a:p>
        </p:txBody>
      </p:sp>
      <p:sp>
        <p:nvSpPr>
          <p:cNvPr id="11" name="Text 9"/>
          <p:cNvSpPr/>
          <p:nvPr/>
        </p:nvSpPr>
        <p:spPr>
          <a:xfrm>
            <a:off x="2587752" y="1883664"/>
            <a:ext cx="1316736" cy="475488"/>
          </a:xfrm>
          <a:prstGeom prst="rect">
            <a:avLst/>
          </a:prstGeom>
          <a:noFill/>
          <a:ln/>
        </p:spPr>
        <p:txBody>
          <a:bodyPr wrap="square" lIns="0" tIns="0" rIns="0" bIns="0" rtlCol="0" anchor="ctr"/>
          <a:lstStyle/>
          <a:p>
            <a:pPr algn="ctr" indent="0" marL="0">
              <a:buNone/>
            </a:pPr>
            <a:r>
              <a:rPr lang="en-US" sz="1300" b="1" dirty="0">
                <a:solidFill>
                  <a:srgbClr val="B5453C"/>
                </a:solidFill>
                <a:latin typeface="Calibri" pitchFamily="34" charset="0"/>
                <a:ea typeface="Calibri" pitchFamily="34" charset="-122"/>
                <a:cs typeface="Calibri" pitchFamily="34" charset="-120"/>
              </a:rPr>
              <a:t>fail</a:t>
            </a:r>
            <a:endParaRPr lang="en-US" sz="1300" dirty="0"/>
          </a:p>
        </p:txBody>
      </p:sp>
      <p:sp>
        <p:nvSpPr>
          <p:cNvPr id="12" name="Text 10"/>
          <p:cNvSpPr/>
          <p:nvPr/>
        </p:nvSpPr>
        <p:spPr>
          <a:xfrm>
            <a:off x="4050792" y="1883664"/>
            <a:ext cx="1316736" cy="475488"/>
          </a:xfrm>
          <a:prstGeom prst="rect">
            <a:avLst/>
          </a:prstGeom>
          <a:noFill/>
          <a:ln/>
        </p:spPr>
        <p:txBody>
          <a:bodyPr wrap="square" lIns="0" tIns="0" rIns="0" bIns="0" rtlCol="0" anchor="ctr"/>
          <a:lstStyle/>
          <a:p>
            <a:pPr algn="ctr" indent="0" marL="0">
              <a:buNone/>
            </a:pPr>
            <a:r>
              <a:rPr lang="en-US" sz="1300" b="1" dirty="0">
                <a:solidFill>
                  <a:srgbClr val="028090"/>
                </a:solidFill>
                <a:latin typeface="Calibri" pitchFamily="34" charset="0"/>
                <a:ea typeface="Calibri" pitchFamily="34" charset="-122"/>
                <a:cs typeface="Calibri" pitchFamily="34" charset="-120"/>
              </a:rPr>
              <a:t>pass</a:t>
            </a:r>
            <a:endParaRPr lang="en-US" sz="1300" dirty="0"/>
          </a:p>
        </p:txBody>
      </p:sp>
      <p:sp>
        <p:nvSpPr>
          <p:cNvPr id="13" name="Text 11"/>
          <p:cNvSpPr/>
          <p:nvPr/>
        </p:nvSpPr>
        <p:spPr>
          <a:xfrm>
            <a:off x="5513832" y="1883664"/>
            <a:ext cx="1316736" cy="475488"/>
          </a:xfrm>
          <a:prstGeom prst="rect">
            <a:avLst/>
          </a:prstGeom>
          <a:noFill/>
          <a:ln/>
        </p:spPr>
        <p:txBody>
          <a:bodyPr wrap="square" lIns="0" tIns="0" rIns="0" bIns="0" rtlCol="0" anchor="ctr"/>
          <a:lstStyle/>
          <a:p>
            <a:pPr algn="ctr" indent="0" marL="0">
              <a:buNone/>
            </a:pPr>
            <a:r>
              <a:rPr lang="en-US" sz="1300" b="1" dirty="0">
                <a:solidFill>
                  <a:srgbClr val="028090"/>
                </a:solidFill>
                <a:latin typeface="Calibri" pitchFamily="34" charset="0"/>
                <a:ea typeface="Calibri" pitchFamily="34" charset="-122"/>
                <a:cs typeface="Calibri" pitchFamily="34" charset="-120"/>
              </a:rPr>
              <a:t>pass</a:t>
            </a:r>
            <a:endParaRPr lang="en-US" sz="1300" dirty="0"/>
          </a:p>
        </p:txBody>
      </p:sp>
      <p:sp>
        <p:nvSpPr>
          <p:cNvPr id="14" name="Text 12"/>
          <p:cNvSpPr/>
          <p:nvPr/>
        </p:nvSpPr>
        <p:spPr>
          <a:xfrm>
            <a:off x="6976872" y="1883664"/>
            <a:ext cx="1316736" cy="475488"/>
          </a:xfrm>
          <a:prstGeom prst="rect">
            <a:avLst/>
          </a:prstGeom>
          <a:noFill/>
          <a:ln/>
        </p:spPr>
        <p:txBody>
          <a:bodyPr wrap="square" lIns="0" tIns="0" rIns="0" bIns="0" rtlCol="0" anchor="ctr"/>
          <a:lstStyle/>
          <a:p>
            <a:pPr algn="ctr" indent="0" marL="0">
              <a:buNone/>
            </a:pPr>
            <a:r>
              <a:rPr lang="en-US" sz="1300" b="1" dirty="0">
                <a:solidFill>
                  <a:srgbClr val="028090"/>
                </a:solidFill>
                <a:latin typeface="Calibri" pitchFamily="34" charset="0"/>
                <a:ea typeface="Calibri" pitchFamily="34" charset="-122"/>
                <a:cs typeface="Calibri" pitchFamily="34" charset="-120"/>
              </a:rPr>
              <a:t>pass</a:t>
            </a:r>
            <a:endParaRPr lang="en-US" sz="1300" dirty="0"/>
          </a:p>
        </p:txBody>
      </p:sp>
      <p:sp>
        <p:nvSpPr>
          <p:cNvPr id="15" name="Text 13"/>
          <p:cNvSpPr/>
          <p:nvPr/>
        </p:nvSpPr>
        <p:spPr>
          <a:xfrm>
            <a:off x="658368" y="2487168"/>
            <a:ext cx="2468880" cy="475488"/>
          </a:xfrm>
          <a:prstGeom prst="rect">
            <a:avLst/>
          </a:prstGeom>
          <a:noFill/>
          <a:ln/>
        </p:spPr>
        <p:txBody>
          <a:bodyPr wrap="square" lIns="0" tIns="0" rIns="0" bIns="0" rtlCol="0" anchor="ctr"/>
          <a:lstStyle/>
          <a:p>
            <a:pPr indent="0" marL="0">
              <a:buNone/>
            </a:pPr>
            <a:r>
              <a:rPr lang="en-US" sz="1200" dirty="0">
                <a:solidFill>
                  <a:srgbClr val="17313A"/>
                </a:solidFill>
                <a:latin typeface="Calibri" pitchFamily="34" charset="0"/>
                <a:ea typeface="Calibri" pitchFamily="34" charset="-122"/>
                <a:cs typeface="Calibri" pitchFamily="34" charset="-120"/>
              </a:rPr>
              <a:t>Correct fact in answer</a:t>
            </a:r>
            <a:endParaRPr lang="en-US" sz="1200" dirty="0"/>
          </a:p>
        </p:txBody>
      </p:sp>
      <p:sp>
        <p:nvSpPr>
          <p:cNvPr id="16" name="Text 14"/>
          <p:cNvSpPr/>
          <p:nvPr/>
        </p:nvSpPr>
        <p:spPr>
          <a:xfrm>
            <a:off x="2587752" y="2487168"/>
            <a:ext cx="1316736" cy="475488"/>
          </a:xfrm>
          <a:prstGeom prst="rect">
            <a:avLst/>
          </a:prstGeom>
          <a:noFill/>
          <a:ln/>
        </p:spPr>
        <p:txBody>
          <a:bodyPr wrap="square" lIns="0" tIns="0" rIns="0" bIns="0" rtlCol="0" anchor="ctr"/>
          <a:lstStyle/>
          <a:p>
            <a:pPr algn="ctr" indent="0" marL="0">
              <a:buNone/>
            </a:pPr>
            <a:r>
              <a:rPr lang="en-US" sz="1300" dirty="0">
                <a:solidFill>
                  <a:srgbClr val="5D7178"/>
                </a:solidFill>
                <a:latin typeface="Calibri" pitchFamily="34" charset="0"/>
                <a:ea typeface="Calibri" pitchFamily="34" charset="-122"/>
                <a:cs typeface="Calibri" pitchFamily="34" charset="-120"/>
              </a:rPr>
              <a:t>10/11</a:t>
            </a:r>
            <a:endParaRPr lang="en-US" sz="1300" dirty="0"/>
          </a:p>
        </p:txBody>
      </p:sp>
      <p:sp>
        <p:nvSpPr>
          <p:cNvPr id="17" name="Text 15"/>
          <p:cNvSpPr/>
          <p:nvPr/>
        </p:nvSpPr>
        <p:spPr>
          <a:xfrm>
            <a:off x="4050792" y="2487168"/>
            <a:ext cx="1316736" cy="475488"/>
          </a:xfrm>
          <a:prstGeom prst="rect">
            <a:avLst/>
          </a:prstGeom>
          <a:noFill/>
          <a:ln/>
        </p:spPr>
        <p:txBody>
          <a:bodyPr wrap="square" lIns="0" tIns="0" rIns="0" bIns="0" rtlCol="0" anchor="ctr"/>
          <a:lstStyle/>
          <a:p>
            <a:pPr algn="ctr" indent="0" marL="0">
              <a:buNone/>
            </a:pPr>
            <a:r>
              <a:rPr lang="en-US" sz="1300" dirty="0">
                <a:solidFill>
                  <a:srgbClr val="5D7178"/>
                </a:solidFill>
                <a:latin typeface="Calibri" pitchFamily="34" charset="0"/>
                <a:ea typeface="Calibri" pitchFamily="34" charset="-122"/>
                <a:cs typeface="Calibri" pitchFamily="34" charset="-120"/>
              </a:rPr>
              <a:t>11/11</a:t>
            </a:r>
            <a:endParaRPr lang="en-US" sz="1300" dirty="0"/>
          </a:p>
        </p:txBody>
      </p:sp>
      <p:sp>
        <p:nvSpPr>
          <p:cNvPr id="18" name="Text 16"/>
          <p:cNvSpPr/>
          <p:nvPr/>
        </p:nvSpPr>
        <p:spPr>
          <a:xfrm>
            <a:off x="5513832" y="2487168"/>
            <a:ext cx="1316736" cy="475488"/>
          </a:xfrm>
          <a:prstGeom prst="rect">
            <a:avLst/>
          </a:prstGeom>
          <a:noFill/>
          <a:ln/>
        </p:spPr>
        <p:txBody>
          <a:bodyPr wrap="square" lIns="0" tIns="0" rIns="0" bIns="0" rtlCol="0" anchor="ctr"/>
          <a:lstStyle/>
          <a:p>
            <a:pPr algn="ctr" indent="0" marL="0">
              <a:buNone/>
            </a:pPr>
            <a:r>
              <a:rPr lang="en-US" sz="1300" dirty="0">
                <a:solidFill>
                  <a:srgbClr val="5D7178"/>
                </a:solidFill>
                <a:latin typeface="Calibri" pitchFamily="34" charset="0"/>
                <a:ea typeface="Calibri" pitchFamily="34" charset="-122"/>
                <a:cs typeface="Calibri" pitchFamily="34" charset="-120"/>
              </a:rPr>
              <a:t>11/11</a:t>
            </a:r>
            <a:endParaRPr lang="en-US" sz="1300" dirty="0"/>
          </a:p>
        </p:txBody>
      </p:sp>
      <p:sp>
        <p:nvSpPr>
          <p:cNvPr id="19" name="Text 17"/>
          <p:cNvSpPr/>
          <p:nvPr/>
        </p:nvSpPr>
        <p:spPr>
          <a:xfrm>
            <a:off x="6976872" y="2487168"/>
            <a:ext cx="1316736" cy="475488"/>
          </a:xfrm>
          <a:prstGeom prst="rect">
            <a:avLst/>
          </a:prstGeom>
          <a:noFill/>
          <a:ln/>
        </p:spPr>
        <p:txBody>
          <a:bodyPr wrap="square" lIns="0" tIns="0" rIns="0" bIns="0" rtlCol="0" anchor="ctr"/>
          <a:lstStyle/>
          <a:p>
            <a:pPr algn="ctr" indent="0" marL="0">
              <a:buNone/>
            </a:pPr>
            <a:r>
              <a:rPr lang="en-US" sz="1300" dirty="0">
                <a:solidFill>
                  <a:srgbClr val="5D7178"/>
                </a:solidFill>
                <a:latin typeface="Calibri" pitchFamily="34" charset="0"/>
                <a:ea typeface="Calibri" pitchFamily="34" charset="-122"/>
                <a:cs typeface="Calibri" pitchFamily="34" charset="-120"/>
              </a:rPr>
              <a:t>11/11</a:t>
            </a:r>
            <a:endParaRPr lang="en-US" sz="1300" dirty="0"/>
          </a:p>
        </p:txBody>
      </p:sp>
      <p:sp>
        <p:nvSpPr>
          <p:cNvPr id="20" name="Shape 18"/>
          <p:cNvSpPr/>
          <p:nvPr/>
        </p:nvSpPr>
        <p:spPr>
          <a:xfrm>
            <a:off x="457200" y="3054096"/>
            <a:ext cx="8229600" cy="548640"/>
          </a:xfrm>
          <a:prstGeom prst="roundRect">
            <a:avLst>
              <a:gd name="adj" fmla="val 10000"/>
            </a:avLst>
          </a:prstGeom>
          <a:solidFill>
            <a:srgbClr val="E9F5F4"/>
          </a:solidFill>
          <a:ln/>
        </p:spPr>
      </p:sp>
      <p:sp>
        <p:nvSpPr>
          <p:cNvPr id="21" name="Text 19"/>
          <p:cNvSpPr/>
          <p:nvPr/>
        </p:nvSpPr>
        <p:spPr>
          <a:xfrm>
            <a:off x="658368" y="3090672"/>
            <a:ext cx="2468880" cy="475488"/>
          </a:xfrm>
          <a:prstGeom prst="rect">
            <a:avLst/>
          </a:prstGeom>
          <a:noFill/>
          <a:ln/>
        </p:spPr>
        <p:txBody>
          <a:bodyPr wrap="square" lIns="0" tIns="0" rIns="0" bIns="0" rtlCol="0" anchor="ctr"/>
          <a:lstStyle/>
          <a:p>
            <a:pPr indent="0" marL="0">
              <a:buNone/>
            </a:pPr>
            <a:r>
              <a:rPr lang="en-US" sz="1200" dirty="0">
                <a:solidFill>
                  <a:srgbClr val="17313A"/>
                </a:solidFill>
                <a:latin typeface="Calibri" pitchFamily="34" charset="0"/>
                <a:ea typeface="Calibri" pitchFamily="34" charset="-122"/>
                <a:cs typeface="Calibri" pitchFamily="34" charset="-120"/>
              </a:rPr>
              <a:t>Correct file cited</a:t>
            </a:r>
            <a:endParaRPr lang="en-US" sz="1200" dirty="0"/>
          </a:p>
        </p:txBody>
      </p:sp>
      <p:sp>
        <p:nvSpPr>
          <p:cNvPr id="22" name="Text 20"/>
          <p:cNvSpPr/>
          <p:nvPr/>
        </p:nvSpPr>
        <p:spPr>
          <a:xfrm>
            <a:off x="2587752" y="3090672"/>
            <a:ext cx="1316736" cy="475488"/>
          </a:xfrm>
          <a:prstGeom prst="rect">
            <a:avLst/>
          </a:prstGeom>
          <a:noFill/>
          <a:ln/>
        </p:spPr>
        <p:txBody>
          <a:bodyPr wrap="square" lIns="0" tIns="0" rIns="0" bIns="0" rtlCol="0" anchor="ctr"/>
          <a:lstStyle/>
          <a:p>
            <a:pPr algn="ctr" indent="0" marL="0">
              <a:buNone/>
            </a:pPr>
            <a:r>
              <a:rPr lang="en-US" sz="1300" dirty="0">
                <a:solidFill>
                  <a:srgbClr val="5D7178"/>
                </a:solidFill>
                <a:latin typeface="Calibri" pitchFamily="34" charset="0"/>
                <a:ea typeface="Calibri" pitchFamily="34" charset="-122"/>
                <a:cs typeface="Calibri" pitchFamily="34" charset="-120"/>
              </a:rPr>
              <a:t>10/11</a:t>
            </a:r>
            <a:endParaRPr lang="en-US" sz="1300" dirty="0"/>
          </a:p>
        </p:txBody>
      </p:sp>
      <p:sp>
        <p:nvSpPr>
          <p:cNvPr id="23" name="Text 21"/>
          <p:cNvSpPr/>
          <p:nvPr/>
        </p:nvSpPr>
        <p:spPr>
          <a:xfrm>
            <a:off x="4050792" y="3090672"/>
            <a:ext cx="1316736" cy="475488"/>
          </a:xfrm>
          <a:prstGeom prst="rect">
            <a:avLst/>
          </a:prstGeom>
          <a:noFill/>
          <a:ln/>
        </p:spPr>
        <p:txBody>
          <a:bodyPr wrap="square" lIns="0" tIns="0" rIns="0" bIns="0" rtlCol="0" anchor="ctr"/>
          <a:lstStyle/>
          <a:p>
            <a:pPr algn="ctr" indent="0" marL="0">
              <a:buNone/>
            </a:pPr>
            <a:r>
              <a:rPr lang="en-US" sz="1300" b="1" dirty="0">
                <a:solidFill>
                  <a:srgbClr val="B5453C"/>
                </a:solidFill>
                <a:latin typeface="Calibri" pitchFamily="34" charset="0"/>
                <a:ea typeface="Calibri" pitchFamily="34" charset="-122"/>
                <a:cs typeface="Calibri" pitchFamily="34" charset="-120"/>
              </a:rPr>
              <a:t>4/11</a:t>
            </a:r>
            <a:endParaRPr lang="en-US" sz="1300" dirty="0"/>
          </a:p>
        </p:txBody>
      </p:sp>
      <p:sp>
        <p:nvSpPr>
          <p:cNvPr id="24" name="Text 22"/>
          <p:cNvSpPr/>
          <p:nvPr/>
        </p:nvSpPr>
        <p:spPr>
          <a:xfrm>
            <a:off x="5513832" y="3090672"/>
            <a:ext cx="1316736" cy="475488"/>
          </a:xfrm>
          <a:prstGeom prst="rect">
            <a:avLst/>
          </a:prstGeom>
          <a:noFill/>
          <a:ln/>
        </p:spPr>
        <p:txBody>
          <a:bodyPr wrap="square" lIns="0" tIns="0" rIns="0" bIns="0" rtlCol="0" anchor="ctr"/>
          <a:lstStyle/>
          <a:p>
            <a:pPr algn="ctr" indent="0" marL="0">
              <a:buNone/>
            </a:pPr>
            <a:r>
              <a:rPr lang="en-US" sz="1300" b="1" dirty="0">
                <a:solidFill>
                  <a:srgbClr val="028090"/>
                </a:solidFill>
                <a:latin typeface="Calibri" pitchFamily="34" charset="0"/>
                <a:ea typeface="Calibri" pitchFamily="34" charset="-122"/>
                <a:cs typeface="Calibri" pitchFamily="34" charset="-120"/>
              </a:rPr>
              <a:t>11/11</a:t>
            </a:r>
            <a:endParaRPr lang="en-US" sz="1300" dirty="0"/>
          </a:p>
        </p:txBody>
      </p:sp>
      <p:sp>
        <p:nvSpPr>
          <p:cNvPr id="25" name="Text 23"/>
          <p:cNvSpPr/>
          <p:nvPr/>
        </p:nvSpPr>
        <p:spPr>
          <a:xfrm>
            <a:off x="6976872" y="3090672"/>
            <a:ext cx="1316736" cy="475488"/>
          </a:xfrm>
          <a:prstGeom prst="rect">
            <a:avLst/>
          </a:prstGeom>
          <a:noFill/>
          <a:ln/>
        </p:spPr>
        <p:txBody>
          <a:bodyPr wrap="square" lIns="0" tIns="0" rIns="0" bIns="0" rtlCol="0" anchor="ctr"/>
          <a:lstStyle/>
          <a:p>
            <a:pPr algn="ctr" indent="0" marL="0">
              <a:buNone/>
            </a:pPr>
            <a:r>
              <a:rPr lang="en-US" sz="1300" b="1" dirty="0">
                <a:solidFill>
                  <a:srgbClr val="028090"/>
                </a:solidFill>
                <a:latin typeface="Calibri" pitchFamily="34" charset="0"/>
                <a:ea typeface="Calibri" pitchFamily="34" charset="-122"/>
                <a:cs typeface="Calibri" pitchFamily="34" charset="-120"/>
              </a:rPr>
              <a:t>11/11</a:t>
            </a:r>
            <a:endParaRPr lang="en-US" sz="1300" dirty="0"/>
          </a:p>
        </p:txBody>
      </p:sp>
      <p:sp>
        <p:nvSpPr>
          <p:cNvPr id="26" name="Text 24"/>
          <p:cNvSpPr/>
          <p:nvPr/>
        </p:nvSpPr>
        <p:spPr>
          <a:xfrm>
            <a:off x="658368" y="3694176"/>
            <a:ext cx="2468880" cy="475488"/>
          </a:xfrm>
          <a:prstGeom prst="rect">
            <a:avLst/>
          </a:prstGeom>
          <a:noFill/>
          <a:ln/>
        </p:spPr>
        <p:txBody>
          <a:bodyPr wrap="square" lIns="0" tIns="0" rIns="0" bIns="0" rtlCol="0" anchor="ctr"/>
          <a:lstStyle/>
          <a:p>
            <a:pPr indent="0" marL="0">
              <a:buNone/>
            </a:pPr>
            <a:r>
              <a:rPr lang="en-US" sz="1200" dirty="0">
                <a:solidFill>
                  <a:srgbClr val="17313A"/>
                </a:solidFill>
                <a:latin typeface="Calibri" pitchFamily="34" charset="0"/>
                <a:ea typeface="Calibri" pitchFamily="34" charset="-122"/>
                <a:cs typeface="Calibri" pitchFamily="34" charset="-120"/>
              </a:rPr>
              <a:t>Seconds per answer</a:t>
            </a:r>
            <a:endParaRPr lang="en-US" sz="1200" dirty="0"/>
          </a:p>
        </p:txBody>
      </p:sp>
      <p:sp>
        <p:nvSpPr>
          <p:cNvPr id="27" name="Text 25"/>
          <p:cNvSpPr/>
          <p:nvPr/>
        </p:nvSpPr>
        <p:spPr>
          <a:xfrm>
            <a:off x="2587752" y="3694176"/>
            <a:ext cx="1316736" cy="475488"/>
          </a:xfrm>
          <a:prstGeom prst="rect">
            <a:avLst/>
          </a:prstGeom>
          <a:noFill/>
          <a:ln/>
        </p:spPr>
        <p:txBody>
          <a:bodyPr wrap="square" lIns="0" tIns="0" rIns="0" bIns="0" rtlCol="0" anchor="ctr"/>
          <a:lstStyle/>
          <a:p>
            <a:pPr algn="ctr" indent="0" marL="0">
              <a:buNone/>
            </a:pPr>
            <a:r>
              <a:rPr lang="en-US" sz="1300" dirty="0">
                <a:solidFill>
                  <a:srgbClr val="5D7178"/>
                </a:solidFill>
                <a:latin typeface="Calibri" pitchFamily="34" charset="0"/>
                <a:ea typeface="Calibri" pitchFamily="34" charset="-122"/>
                <a:cs typeface="Calibri" pitchFamily="34" charset="-120"/>
              </a:rPr>
              <a:t>4.1</a:t>
            </a:r>
            <a:endParaRPr lang="en-US" sz="1300" dirty="0"/>
          </a:p>
        </p:txBody>
      </p:sp>
      <p:sp>
        <p:nvSpPr>
          <p:cNvPr id="28" name="Text 26"/>
          <p:cNvSpPr/>
          <p:nvPr/>
        </p:nvSpPr>
        <p:spPr>
          <a:xfrm>
            <a:off x="4050792" y="3694176"/>
            <a:ext cx="1316736" cy="475488"/>
          </a:xfrm>
          <a:prstGeom prst="rect">
            <a:avLst/>
          </a:prstGeom>
          <a:noFill/>
          <a:ln/>
        </p:spPr>
        <p:txBody>
          <a:bodyPr wrap="square" lIns="0" tIns="0" rIns="0" bIns="0" rtlCol="0" anchor="ctr"/>
          <a:lstStyle/>
          <a:p>
            <a:pPr algn="ctr" indent="0" marL="0">
              <a:buNone/>
            </a:pPr>
            <a:r>
              <a:rPr lang="en-US" sz="1300" dirty="0">
                <a:solidFill>
                  <a:srgbClr val="5D7178"/>
                </a:solidFill>
                <a:latin typeface="Calibri" pitchFamily="34" charset="0"/>
                <a:ea typeface="Calibri" pitchFamily="34" charset="-122"/>
                <a:cs typeface="Calibri" pitchFamily="34" charset="-120"/>
              </a:rPr>
              <a:t>5.6</a:t>
            </a:r>
            <a:endParaRPr lang="en-US" sz="1300" dirty="0"/>
          </a:p>
        </p:txBody>
      </p:sp>
      <p:sp>
        <p:nvSpPr>
          <p:cNvPr id="29" name="Text 27"/>
          <p:cNvSpPr/>
          <p:nvPr/>
        </p:nvSpPr>
        <p:spPr>
          <a:xfrm>
            <a:off x="5513832" y="3694176"/>
            <a:ext cx="1316736" cy="475488"/>
          </a:xfrm>
          <a:prstGeom prst="rect">
            <a:avLst/>
          </a:prstGeom>
          <a:noFill/>
          <a:ln/>
        </p:spPr>
        <p:txBody>
          <a:bodyPr wrap="square" lIns="0" tIns="0" rIns="0" bIns="0" rtlCol="0" anchor="ctr"/>
          <a:lstStyle/>
          <a:p>
            <a:pPr algn="ctr" indent="0" marL="0">
              <a:buNone/>
            </a:pPr>
            <a:r>
              <a:rPr lang="en-US" sz="1300" dirty="0">
                <a:solidFill>
                  <a:srgbClr val="5D7178"/>
                </a:solidFill>
                <a:latin typeface="Calibri" pitchFamily="34" charset="0"/>
                <a:ea typeface="Calibri" pitchFamily="34" charset="-122"/>
                <a:cs typeface="Calibri" pitchFamily="34" charset="-120"/>
              </a:rPr>
              <a:t>5.5</a:t>
            </a:r>
            <a:endParaRPr lang="en-US" sz="1300" dirty="0"/>
          </a:p>
        </p:txBody>
      </p:sp>
      <p:sp>
        <p:nvSpPr>
          <p:cNvPr id="30" name="Text 28"/>
          <p:cNvSpPr/>
          <p:nvPr/>
        </p:nvSpPr>
        <p:spPr>
          <a:xfrm>
            <a:off x="6976872" y="3694176"/>
            <a:ext cx="1316736" cy="475488"/>
          </a:xfrm>
          <a:prstGeom prst="rect">
            <a:avLst/>
          </a:prstGeom>
          <a:noFill/>
          <a:ln/>
        </p:spPr>
        <p:txBody>
          <a:bodyPr wrap="square" lIns="0" tIns="0" rIns="0" bIns="0" rtlCol="0" anchor="ctr"/>
          <a:lstStyle/>
          <a:p>
            <a:pPr algn="ctr" indent="0" marL="0">
              <a:buNone/>
            </a:pPr>
            <a:r>
              <a:rPr lang="en-US" sz="1300" dirty="0">
                <a:solidFill>
                  <a:srgbClr val="5D7178"/>
                </a:solidFill>
                <a:latin typeface="Calibri" pitchFamily="34" charset="0"/>
                <a:ea typeface="Calibri" pitchFamily="34" charset="-122"/>
                <a:cs typeface="Calibri" pitchFamily="34" charset="-120"/>
              </a:rPr>
              <a:t>5.8</a:t>
            </a:r>
            <a:endParaRPr lang="en-US" sz="1300" dirty="0"/>
          </a:p>
        </p:txBody>
      </p:sp>
      <p:sp>
        <p:nvSpPr>
          <p:cNvPr id="31" name="Shape 29"/>
          <p:cNvSpPr/>
          <p:nvPr/>
        </p:nvSpPr>
        <p:spPr>
          <a:xfrm>
            <a:off x="457200" y="4370832"/>
            <a:ext cx="8229600" cy="548640"/>
          </a:xfrm>
          <a:prstGeom prst="roundRect">
            <a:avLst>
              <a:gd name="adj" fmla="val 10000"/>
            </a:avLst>
          </a:prstGeom>
          <a:solidFill>
            <a:srgbClr val="10343A"/>
          </a:solidFill>
          <a:ln/>
        </p:spPr>
      </p:sp>
      <p:sp>
        <p:nvSpPr>
          <p:cNvPr id="32" name="Text 30"/>
          <p:cNvSpPr/>
          <p:nvPr/>
        </p:nvSpPr>
        <p:spPr>
          <a:xfrm>
            <a:off x="685800" y="4370832"/>
            <a:ext cx="7772400" cy="548640"/>
          </a:xfrm>
          <a:prstGeom prst="rect">
            <a:avLst/>
          </a:prstGeom>
          <a:noFill/>
          <a:ln/>
        </p:spPr>
        <p:txBody>
          <a:bodyPr wrap="square" lIns="0" tIns="0" rIns="0" bIns="0" rtlCol="0" anchor="ctr"/>
          <a:lstStyle/>
          <a:p>
            <a:pPr algn="ctr" indent="0" marL="0">
              <a:buNone/>
            </a:pPr>
            <a:r>
              <a:rPr lang="en-US" sz="1200" b="1" dirty="0">
                <a:solidFill>
                  <a:srgbClr val="02C39A"/>
                </a:solidFill>
                <a:latin typeface="Calibri" pitchFamily="34" charset="0"/>
                <a:ea typeface="Calibri" pitchFamily="34" charset="-122"/>
                <a:cs typeface="Calibri" pitchFamily="34" charset="-120"/>
              </a:rPr>
              <a:t>Widening retrieval fixed the multi-hop answer and silently broke citation. The fix was not a better prompt — it was taking the job away from the model.</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0343A"/>
        </a:solidFill>
      </p:bgPr>
    </p:bg>
    <p:spTree>
      <p:nvGrpSpPr>
        <p:cNvPr id="1" name=""/>
        <p:cNvGrpSpPr/>
        <p:nvPr/>
      </p:nvGrpSpPr>
      <p:grpSpPr>
        <a:xfrm>
          <a:off x="0" y="0"/>
          <a:ext cx="0" cy="0"/>
          <a:chOff x="0" y="0"/>
          <a:chExt cx="0" cy="0"/>
        </a:xfrm>
      </p:grpSpPr>
      <p:sp>
        <p:nvSpPr>
          <p:cNvPr id="2" name="Text 0"/>
          <p:cNvSpPr/>
          <p:nvPr/>
        </p:nvSpPr>
        <p:spPr>
          <a:xfrm>
            <a:off x="502920" y="109728"/>
            <a:ext cx="8138160" cy="256032"/>
          </a:xfrm>
          <a:prstGeom prst="rect">
            <a:avLst/>
          </a:prstGeom>
          <a:noFill/>
          <a:ln/>
        </p:spPr>
        <p:txBody>
          <a:bodyPr wrap="square" lIns="0" tIns="0" rIns="0" bIns="0" rtlCol="0" anchor="ctr"/>
          <a:lstStyle/>
          <a:p>
            <a:pPr indent="0" marL="0">
              <a:buNone/>
            </a:pPr>
            <a:r>
              <a:rPr lang="en-US" sz="1100" b="1" spc="200" kern="0" dirty="0">
                <a:solidFill>
                  <a:srgbClr val="02C39A"/>
                </a:solidFill>
                <a:latin typeface="Calibri" pitchFamily="34" charset="0"/>
                <a:ea typeface="Calibri" pitchFamily="34" charset="-122"/>
                <a:cs typeface="Calibri" pitchFamily="34" charset="-120"/>
              </a:rPr>
              <a:t>WHAT I TAKE AWAY</a:t>
            </a:r>
            <a:endParaRPr lang="en-US" sz="1100" dirty="0"/>
          </a:p>
        </p:txBody>
      </p:sp>
      <p:sp>
        <p:nvSpPr>
          <p:cNvPr id="3" name="Text 1"/>
          <p:cNvSpPr/>
          <p:nvPr/>
        </p:nvSpPr>
        <p:spPr>
          <a:xfrm>
            <a:off x="502920" y="347472"/>
            <a:ext cx="813816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Lessons and next steps</a:t>
            </a:r>
            <a:endParaRPr lang="en-US" sz="3200" dirty="0"/>
          </a:p>
        </p:txBody>
      </p:sp>
      <p:sp>
        <p:nvSpPr>
          <p:cNvPr id="4" name="Text 2"/>
          <p:cNvSpPr/>
          <p:nvPr/>
        </p:nvSpPr>
        <p:spPr>
          <a:xfrm>
            <a:off x="502920" y="1234440"/>
            <a:ext cx="3840480" cy="274320"/>
          </a:xfrm>
          <a:prstGeom prst="rect">
            <a:avLst/>
          </a:prstGeom>
          <a:noFill/>
          <a:ln/>
        </p:spPr>
        <p:txBody>
          <a:bodyPr wrap="square" lIns="0" tIns="0" rIns="0" bIns="0" rtlCol="0" anchor="ctr"/>
          <a:lstStyle/>
          <a:p>
            <a:pPr indent="0" marL="0">
              <a:buNone/>
            </a:pPr>
            <a:r>
              <a:rPr lang="en-US" sz="1500" b="1" dirty="0">
                <a:solidFill>
                  <a:srgbClr val="02C39A"/>
                </a:solidFill>
                <a:latin typeface="Calibri" pitchFamily="34" charset="0"/>
                <a:ea typeface="Calibri" pitchFamily="34" charset="-122"/>
                <a:cs typeface="Calibri" pitchFamily="34" charset="-120"/>
              </a:rPr>
              <a:t>Lessons</a:t>
            </a:r>
            <a:endParaRPr lang="en-US" sz="1500" dirty="0"/>
          </a:p>
        </p:txBody>
      </p:sp>
      <p:sp>
        <p:nvSpPr>
          <p:cNvPr id="5" name="Shape 3"/>
          <p:cNvSpPr/>
          <p:nvPr/>
        </p:nvSpPr>
        <p:spPr>
          <a:xfrm>
            <a:off x="502920" y="1645920"/>
            <a:ext cx="274320" cy="274320"/>
          </a:xfrm>
          <a:prstGeom prst="ellipse">
            <a:avLst/>
          </a:prstGeom>
          <a:solidFill>
            <a:srgbClr val="1D4A51"/>
          </a:solidFill>
          <a:ln/>
        </p:spPr>
      </p:sp>
      <p:sp>
        <p:nvSpPr>
          <p:cNvPr id="6" name="Text 4"/>
          <p:cNvSpPr/>
          <p:nvPr/>
        </p:nvSpPr>
        <p:spPr>
          <a:xfrm>
            <a:off x="502920" y="1645920"/>
            <a:ext cx="274320" cy="274320"/>
          </a:xfrm>
          <a:prstGeom prst="rect">
            <a:avLst/>
          </a:prstGeom>
          <a:noFill/>
          <a:ln/>
        </p:spPr>
        <p:txBody>
          <a:bodyPr wrap="square" lIns="0" tIns="0" rIns="0" bIns="0" rtlCol="0" anchor="ctr"/>
          <a:lstStyle/>
          <a:p>
            <a:pPr algn="ctr" indent="0" marL="0">
              <a:buNone/>
            </a:pPr>
            <a:r>
              <a:rPr lang="en-US" sz="1200" b="1" dirty="0">
                <a:solidFill>
                  <a:srgbClr val="02C39A"/>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914400" y="1563624"/>
            <a:ext cx="3429000" cy="822960"/>
          </a:xfrm>
          <a:prstGeom prst="rect">
            <a:avLst/>
          </a:prstGeom>
          <a:noFill/>
          <a:ln/>
        </p:spPr>
        <p:txBody>
          <a:bodyPr wrap="square" lIns="0" tIns="0" rIns="0" bIns="0" rtlCol="0" anchor="ctr"/>
          <a:lstStyle/>
          <a:p>
            <a:pPr indent="0" marL="0">
              <a:buNone/>
            </a:pPr>
            <a:r>
              <a:rPr lang="en-US" sz="1200" dirty="0">
                <a:solidFill>
                  <a:srgbClr val="D6E7E9"/>
                </a:solidFill>
                <a:latin typeface="Calibri" pitchFamily="34" charset="0"/>
                <a:ea typeface="Calibri" pitchFamily="34" charset="-122"/>
                <a:cs typeface="Calibri" pitchFamily="34" charset="-120"/>
              </a:rPr>
              <a:t>Data preparation beat model selection. Chunking and retrieval depth moved the numbers; swapping models did not.</a:t>
            </a:r>
            <a:endParaRPr lang="en-US" sz="1200" dirty="0"/>
          </a:p>
        </p:txBody>
      </p:sp>
      <p:sp>
        <p:nvSpPr>
          <p:cNvPr id="8" name="Shape 6"/>
          <p:cNvSpPr/>
          <p:nvPr/>
        </p:nvSpPr>
        <p:spPr>
          <a:xfrm>
            <a:off x="502920" y="2578608"/>
            <a:ext cx="274320" cy="274320"/>
          </a:xfrm>
          <a:prstGeom prst="ellipse">
            <a:avLst/>
          </a:prstGeom>
          <a:solidFill>
            <a:srgbClr val="1D4A51"/>
          </a:solidFill>
          <a:ln/>
        </p:spPr>
      </p:sp>
      <p:sp>
        <p:nvSpPr>
          <p:cNvPr id="9" name="Text 7"/>
          <p:cNvSpPr/>
          <p:nvPr/>
        </p:nvSpPr>
        <p:spPr>
          <a:xfrm>
            <a:off x="502920" y="2578608"/>
            <a:ext cx="274320" cy="274320"/>
          </a:xfrm>
          <a:prstGeom prst="rect">
            <a:avLst/>
          </a:prstGeom>
          <a:noFill/>
          <a:ln/>
        </p:spPr>
        <p:txBody>
          <a:bodyPr wrap="square" lIns="0" tIns="0" rIns="0" bIns="0" rtlCol="0" anchor="ctr"/>
          <a:lstStyle/>
          <a:p>
            <a:pPr algn="ctr" indent="0" marL="0">
              <a:buNone/>
            </a:pPr>
            <a:r>
              <a:rPr lang="en-US" sz="1200" b="1" dirty="0">
                <a:solidFill>
                  <a:srgbClr val="02C39A"/>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914400" y="2496312"/>
            <a:ext cx="3429000" cy="822960"/>
          </a:xfrm>
          <a:prstGeom prst="rect">
            <a:avLst/>
          </a:prstGeom>
          <a:noFill/>
          <a:ln/>
        </p:spPr>
        <p:txBody>
          <a:bodyPr wrap="square" lIns="0" tIns="0" rIns="0" bIns="0" rtlCol="0" anchor="ctr"/>
          <a:lstStyle/>
          <a:p>
            <a:pPr indent="0" marL="0">
              <a:buNone/>
            </a:pPr>
            <a:r>
              <a:rPr lang="en-US" sz="1200" dirty="0">
                <a:solidFill>
                  <a:srgbClr val="D6E7E9"/>
                </a:solidFill>
                <a:latin typeface="Calibri" pitchFamily="34" charset="0"/>
                <a:ea typeface="Calibri" pitchFamily="34" charset="-122"/>
                <a:cs typeface="Calibri" pitchFamily="34" charset="-120"/>
              </a:rPr>
              <a:t>Anything the model does not have to do, it should not. Moving citation into code took it from 4/11 to 11/11.</a:t>
            </a:r>
            <a:endParaRPr lang="en-US" sz="1200" dirty="0"/>
          </a:p>
        </p:txBody>
      </p:sp>
      <p:sp>
        <p:nvSpPr>
          <p:cNvPr id="11" name="Shape 9"/>
          <p:cNvSpPr/>
          <p:nvPr/>
        </p:nvSpPr>
        <p:spPr>
          <a:xfrm>
            <a:off x="502920" y="3511296"/>
            <a:ext cx="274320" cy="274320"/>
          </a:xfrm>
          <a:prstGeom prst="ellipse">
            <a:avLst/>
          </a:prstGeom>
          <a:solidFill>
            <a:srgbClr val="1D4A51"/>
          </a:solidFill>
          <a:ln/>
        </p:spPr>
      </p:sp>
      <p:sp>
        <p:nvSpPr>
          <p:cNvPr id="12" name="Text 10"/>
          <p:cNvSpPr/>
          <p:nvPr/>
        </p:nvSpPr>
        <p:spPr>
          <a:xfrm>
            <a:off x="502920" y="3511296"/>
            <a:ext cx="274320" cy="274320"/>
          </a:xfrm>
          <a:prstGeom prst="rect">
            <a:avLst/>
          </a:prstGeom>
          <a:noFill/>
          <a:ln/>
        </p:spPr>
        <p:txBody>
          <a:bodyPr wrap="square" lIns="0" tIns="0" rIns="0" bIns="0" rtlCol="0" anchor="ctr"/>
          <a:lstStyle/>
          <a:p>
            <a:pPr algn="ctr" indent="0" marL="0">
              <a:buNone/>
            </a:pPr>
            <a:r>
              <a:rPr lang="en-US" sz="1200" b="1" dirty="0">
                <a:solidFill>
                  <a:srgbClr val="02C39A"/>
                </a:solidFill>
                <a:latin typeface="Calibri" pitchFamily="34" charset="0"/>
                <a:ea typeface="Calibri" pitchFamily="34" charset="-122"/>
                <a:cs typeface="Calibri" pitchFamily="34" charset="-120"/>
              </a:rPr>
              <a:t>3</a:t>
            </a:r>
            <a:endParaRPr lang="en-US" sz="1200" dirty="0"/>
          </a:p>
        </p:txBody>
      </p:sp>
      <p:sp>
        <p:nvSpPr>
          <p:cNvPr id="13" name="Text 11"/>
          <p:cNvSpPr/>
          <p:nvPr/>
        </p:nvSpPr>
        <p:spPr>
          <a:xfrm>
            <a:off x="914400" y="3429000"/>
            <a:ext cx="3429000" cy="822960"/>
          </a:xfrm>
          <a:prstGeom prst="rect">
            <a:avLst/>
          </a:prstGeom>
          <a:noFill/>
          <a:ln/>
        </p:spPr>
        <p:txBody>
          <a:bodyPr wrap="square" lIns="0" tIns="0" rIns="0" bIns="0" rtlCol="0" anchor="ctr"/>
          <a:lstStyle/>
          <a:p>
            <a:pPr indent="0" marL="0">
              <a:buNone/>
            </a:pPr>
            <a:r>
              <a:rPr lang="en-US" sz="1200" dirty="0">
                <a:solidFill>
                  <a:srgbClr val="D6E7E9"/>
                </a:solidFill>
                <a:latin typeface="Calibri" pitchFamily="34" charset="0"/>
                <a:ea typeface="Calibri" pitchFamily="34" charset="-122"/>
                <a:cs typeface="Calibri" pitchFamily="34" charset="-120"/>
              </a:rPr>
              <a:t>Two of my confident conclusions were wrong. I only found out by testing them against a second corpus.</a:t>
            </a:r>
            <a:endParaRPr lang="en-US" sz="1200" dirty="0"/>
          </a:p>
        </p:txBody>
      </p:sp>
      <p:sp>
        <p:nvSpPr>
          <p:cNvPr id="14" name="Text 12"/>
          <p:cNvSpPr/>
          <p:nvPr/>
        </p:nvSpPr>
        <p:spPr>
          <a:xfrm>
            <a:off x="4846320" y="1234440"/>
            <a:ext cx="3840480" cy="274320"/>
          </a:xfrm>
          <a:prstGeom prst="rect">
            <a:avLst/>
          </a:prstGeom>
          <a:noFill/>
          <a:ln/>
        </p:spPr>
        <p:txBody>
          <a:bodyPr wrap="square" lIns="0" tIns="0" rIns="0" bIns="0" rtlCol="0" anchor="ctr"/>
          <a:lstStyle/>
          <a:p>
            <a:pPr indent="0" marL="0">
              <a:buNone/>
            </a:pPr>
            <a:r>
              <a:rPr lang="en-US" sz="1500" b="1" dirty="0">
                <a:solidFill>
                  <a:srgbClr val="02C39A"/>
                </a:solidFill>
                <a:latin typeface="Calibri" pitchFamily="34" charset="0"/>
                <a:ea typeface="Calibri" pitchFamily="34" charset="-122"/>
                <a:cs typeface="Calibri" pitchFamily="34" charset="-120"/>
              </a:rPr>
              <a:t>Next</a:t>
            </a:r>
            <a:endParaRPr lang="en-US" sz="1500" dirty="0"/>
          </a:p>
        </p:txBody>
      </p:sp>
      <p:sp>
        <p:nvSpPr>
          <p:cNvPr id="15" name="Text 13"/>
          <p:cNvSpPr/>
          <p:nvPr/>
        </p:nvSpPr>
        <p:spPr>
          <a:xfrm>
            <a:off x="4846320" y="1600200"/>
            <a:ext cx="3840480" cy="2194560"/>
          </a:xfrm>
          <a:prstGeom prst="rect">
            <a:avLst/>
          </a:prstGeom>
          <a:noFill/>
          <a:ln/>
        </p:spPr>
        <p:txBody>
          <a:bodyPr wrap="square" lIns="0" tIns="0" rIns="0" bIns="0" rtlCol="0" anchor="ctr"/>
          <a:lstStyle/>
          <a:p>
            <a:pPr marL="342900" indent="-342900">
              <a:spcAft>
                <a:spcPts val="1200"/>
              </a:spcAft>
              <a:buSzPct val="100000"/>
              <a:buChar char="•"/>
            </a:pPr>
            <a:r>
              <a:rPr lang="en-US" sz="1200" dirty="0">
                <a:solidFill>
                  <a:srgbClr val="D6E7E9"/>
                </a:solidFill>
                <a:latin typeface="Calibri" pitchFamily="34" charset="0"/>
                <a:ea typeface="Calibri" pitchFamily="34" charset="-122"/>
                <a:cs typeface="Calibri" pitchFamily="34" charset="-120"/>
              </a:rPr>
              <a:t>Ship a calibration script — the threshold is a hardcoded number that only suits one corpus</a:t>
            </a:r>
            <a:endParaRPr lang="en-US" sz="1200" dirty="0"/>
          </a:p>
          <a:p>
            <a:pPr marL="342900" indent="-342900">
              <a:spcAft>
                <a:spcPts val="1200"/>
              </a:spcAft>
              <a:buSzPct val="100000"/>
              <a:buChar char="•"/>
            </a:pPr>
            <a:r>
              <a:rPr lang="en-US" sz="1200" dirty="0">
                <a:solidFill>
                  <a:srgbClr val="D6E7E9"/>
                </a:solidFill>
                <a:latin typeface="Calibri" pitchFamily="34" charset="0"/>
                <a:ea typeface="Calibri" pitchFamily="34" charset="-122"/>
                <a:cs typeface="Calibri" pitchFamily="34" charset="-120"/>
              </a:rPr>
              <a:t>Format queries with the embedding model’s instruction prefix to widen the score gap</a:t>
            </a:r>
            <a:endParaRPr lang="en-US" sz="1200" dirty="0"/>
          </a:p>
          <a:p>
            <a:pPr marL="342900" indent="-342900">
              <a:spcAft>
                <a:spcPts val="1200"/>
              </a:spcAft>
              <a:buSzPct val="100000"/>
              <a:buChar char="•"/>
            </a:pPr>
            <a:r>
              <a:rPr lang="en-US" sz="1200" dirty="0">
                <a:solidFill>
                  <a:srgbClr val="D6E7E9"/>
                </a:solidFill>
                <a:latin typeface="Calibri" pitchFamily="34" charset="0"/>
                <a:ea typeface="Calibri" pitchFamily="34" charset="-122"/>
                <a:cs typeface="Calibri" pitchFamily="34" charset="-120"/>
              </a:rPr>
              <a:t>Swap brute-force scoring for a real vector index to scale past a few hundred chunks</a:t>
            </a:r>
            <a:endParaRPr lang="en-US" sz="1200" dirty="0"/>
          </a:p>
        </p:txBody>
      </p:sp>
      <p:sp>
        <p:nvSpPr>
          <p:cNvPr id="16" name="Shape 14"/>
          <p:cNvSpPr/>
          <p:nvPr/>
        </p:nvSpPr>
        <p:spPr>
          <a:xfrm>
            <a:off x="502920" y="4224528"/>
            <a:ext cx="8138160" cy="566928"/>
          </a:xfrm>
          <a:prstGeom prst="roundRect">
            <a:avLst>
              <a:gd name="adj" fmla="val 9677"/>
            </a:avLst>
          </a:prstGeom>
          <a:solidFill>
            <a:srgbClr val="1D4A51"/>
          </a:solidFill>
          <a:ln/>
        </p:spPr>
      </p:sp>
      <p:sp>
        <p:nvSpPr>
          <p:cNvPr id="17" name="Text 15"/>
          <p:cNvSpPr/>
          <p:nvPr/>
        </p:nvSpPr>
        <p:spPr>
          <a:xfrm>
            <a:off x="502920" y="4224528"/>
            <a:ext cx="8138160" cy="566928"/>
          </a:xfrm>
          <a:prstGeom prst="rect">
            <a:avLst/>
          </a:prstGeom>
          <a:noFill/>
          <a:ln/>
        </p:spPr>
        <p:txBody>
          <a:bodyPr wrap="square" lIns="0" tIns="0" rIns="0" bIns="0" rtlCol="0" anchor="ctr"/>
          <a:lstStyle/>
          <a:p>
            <a:pPr algn="ctr" indent="0" marL="0">
              <a:buNone/>
            </a:pPr>
            <a:r>
              <a:rPr lang="en-US" sz="1300" b="1" dirty="0">
                <a:solidFill>
                  <a:srgbClr val="02C39A"/>
                </a:solidFill>
                <a:latin typeface="Calibri" pitchFamily="34" charset="0"/>
                <a:ea typeface="Calibri" pitchFamily="34" charset="-122"/>
                <a:cs typeface="Calibri" pitchFamily="34" charset="-120"/>
              </a:rPr>
              <a:t>Code, evaluation and this deck:  github.com/AdelUgur/local-rag-foundry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Local RAG Assistant with Microsoft Foundry Local</dc:title>
  <dc:subject>PptxGenJS Presentation</dc:subject>
  <dc:creator>Adel</dc:creator>
  <cp:lastModifiedBy>Adel</cp:lastModifiedBy>
  <cp:revision>1</cp:revision>
  <dcterms:created xsi:type="dcterms:W3CDTF">2026-07-26T19:02:10Z</dcterms:created>
  <dcterms:modified xsi:type="dcterms:W3CDTF">2026-07-26T19:02:10Z</dcterms:modified>
</cp:coreProperties>
</file>